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6737"/>
    <a:srgbClr val="F3ECDD"/>
    <a:srgbClr val="C06225"/>
    <a:srgbClr val="EAE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F4166-A08C-4357-8099-9BAEEED705A6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9F064-4120-4894-AB6C-882A1E2BC3B7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1546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F7044-DEBD-EA5C-95C5-D861D4955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C0A383-E288-176B-9AAB-C67F144AA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B203F6-9440-E41A-B11B-C31566DE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69F3EC-F49A-01B3-D288-E417F237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00F03A-B6CA-B436-AFAA-6B0AB9D6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3442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9257C-56A0-4AB7-8B60-DF94D917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A116C-B711-707C-0E79-08492F2DE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DF581-7206-9287-FF9F-171C4D80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573F17-7FCD-9D8A-5C51-9A4C1EE9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871BA-7954-D6D8-FB38-5DB5D92E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7501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D0702-A8A6-00E1-C916-5A8AED53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3C5FC1-3FFE-A818-AF45-5129D30F2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ECAB2B-90E8-7526-F03A-F6AD19BD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1D0D05-1E5C-FD48-6706-09DF7A52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F84D2-9303-338F-FB01-368F2C7C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1020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1AC4D-49BC-24CC-0386-AB6432FD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CBFAF-5531-5C89-EC4F-354AE98E2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E2F89-E42A-BB59-4690-F8AC013B9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9B64B0-273B-6355-85A4-04E1D12F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AC4EC7-E714-EC22-1D25-A39FFD9E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697C7A-8A40-45A8-5BBB-F0CD16D1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6820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73188-89A3-39C9-3A04-C96743BE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D64F77-F550-A97B-54D3-48E3E988E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B7BE79-8EA9-6C6A-8602-8141DCCEF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F171AD-DA9A-52B5-BD15-38D5C78D7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126EC9-6731-7527-5D51-1C0DA942A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597705-AE28-28A6-BBFB-3E8BB3531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535FD94-E9F7-DC18-689D-8F34CFB6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6CFB52-1B94-A3F8-95B3-A40642B9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900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91A71-156D-C937-EA63-40B8E3A9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C4AF38-97E1-D5E0-51E8-4AB0EBE43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258491-E5E1-4901-A53F-D41B8194A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A99752-739A-3841-24A5-D2F2CBF7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284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2C1614-6684-9817-6A62-1EFB8A6E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3C35EC-50DD-4E9F-964E-D2A9101E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40D864-754A-B9A3-98FC-CC47D4CC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2288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A2E4E-7AB5-C5C2-E87A-BAC882A4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495B3-A813-0423-A9E6-16E4010F4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946D08-9730-52F2-78C5-2B330EBC4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709F2E-4F5D-4BF9-5E3C-975A127E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D03245-C755-26F0-5977-84101DEE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0AA682-51D7-0938-6A02-34D4E889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4604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5">
            <a:extLst>
              <a:ext uri="{FF2B5EF4-FFF2-40B4-BE49-F238E27FC236}">
                <a16:creationId xmlns:a16="http://schemas.microsoft.com/office/drawing/2014/main" id="{A438A76A-88BF-4DD1-791B-996E4FE20E93}"/>
              </a:ext>
            </a:extLst>
          </p:cNvPr>
          <p:cNvSpPr txBox="1">
            <a:spLocks/>
          </p:cNvSpPr>
          <p:nvPr userDrawn="1"/>
        </p:nvSpPr>
        <p:spPr>
          <a:xfrm>
            <a:off x="882494" y="1203960"/>
            <a:ext cx="5842310" cy="4450080"/>
          </a:xfrm>
          <a:prstGeom prst="roundRect">
            <a:avLst>
              <a:gd name="adj" fmla="val 751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vert="horz" lIns="91440" tIns="45720" rIns="91440" bIns="45720" rtlCol="0" anchor="b" anchorCtr="1"/>
          <a:lstStyle>
            <a:defPPr>
              <a:defRPr lang="ru-BY"/>
            </a:defPPr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A5F91F-A107-61DE-D313-1AB7DD8F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2494" y="1203961"/>
            <a:ext cx="5842310" cy="4450080"/>
          </a:xfrm>
          <a:prstGeom prst="roundRect">
            <a:avLst>
              <a:gd name="adj" fmla="val 7516"/>
            </a:avLst>
          </a:prstGeo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019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D3C8DFD0-630C-9601-B06D-FFEB048DBCFB}"/>
              </a:ext>
            </a:extLst>
          </p:cNvPr>
          <p:cNvSpPr txBox="1">
            <a:spLocks/>
          </p:cNvSpPr>
          <p:nvPr userDrawn="1"/>
        </p:nvSpPr>
        <p:spPr>
          <a:xfrm>
            <a:off x="5370626" y="1092200"/>
            <a:ext cx="5842311" cy="4267200"/>
          </a:xfrm>
          <a:prstGeom prst="roundRect">
            <a:avLst>
              <a:gd name="adj" fmla="val 6733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vert="horz" lIns="91440" tIns="45720" rIns="91440" bIns="45720" rtlCol="0" anchor="b" anchorCtr="1"/>
          <a:lstStyle>
            <a:defPPr>
              <a:defRPr lang="ru-BY"/>
            </a:defPPr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A5F91F-A107-61DE-D313-1AB7DD8F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70627" y="1092200"/>
            <a:ext cx="5842310" cy="4267200"/>
          </a:xfrm>
          <a:prstGeom prst="roundRect">
            <a:avLst>
              <a:gd name="adj" fmla="val 6667"/>
            </a:avLst>
          </a:prstGeo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4490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A5F91F-A107-61DE-D313-1AB7DD8F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581097" y="1217228"/>
            <a:ext cx="2442200" cy="4423546"/>
          </a:xfrm>
          <a:prstGeom prst="roundRect">
            <a:avLst>
              <a:gd name="adj" fmla="val 12923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8" name="그림 개체 틀 11">
            <a:extLst>
              <a:ext uri="{FF2B5EF4-FFF2-40B4-BE49-F238E27FC236}">
                <a16:creationId xmlns:a16="http://schemas.microsoft.com/office/drawing/2014/main" id="{112C5AC5-CEE1-8A2C-32BC-6AFA73A88BAB}"/>
              </a:ext>
            </a:extLst>
          </p:cNvPr>
          <p:cNvSpPr txBox="1">
            <a:spLocks/>
          </p:cNvSpPr>
          <p:nvPr userDrawn="1"/>
        </p:nvSpPr>
        <p:spPr>
          <a:xfrm>
            <a:off x="7581097" y="1217227"/>
            <a:ext cx="2442199" cy="4423546"/>
          </a:xfrm>
          <a:prstGeom prst="roundRect">
            <a:avLst>
              <a:gd name="adj" fmla="val 1369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vert="horz" lIns="91440" tIns="45720" rIns="91440" bIns="45720" rtlCol="0" anchor="b" anchorCtr="1"/>
          <a:lstStyle>
            <a:defPPr>
              <a:defRPr lang="ru-BY"/>
            </a:defPPr>
            <a:lvl1pPr marL="0" algn="ctr" defTabSz="914400" rtl="0" eaLnBrk="1" latinLnBrk="0" hangingPunct="1">
              <a:defRPr lang="ko-KR" altLang="en-US" sz="2000" kern="1200" dirty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604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DE0F4-92B6-3165-5BE3-F2358541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BB97EF-CA39-15AB-CC76-9CFC686F9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2512B4-16BE-F1DA-B072-14D7A21A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6C4E5-119F-E626-3E91-C87DD9D1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31EB0-7E39-04BE-32E5-3BC2D335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22875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DBD770-D7B6-A05D-B7EA-7A5EF7B5E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BC53D1-98F1-7D91-AC06-C53C47D2E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71024D-6CB6-A30A-4757-2BE0668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9095F-4DE3-C8D0-A234-8589AB95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EB5AA-8CE0-CA96-B441-2AE8AD23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02859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51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D3716-820A-24CD-9FEA-A65153550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62F390-9683-62B5-C2DC-00334A29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639568-22A8-CAAD-49AD-A6618F627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82EA93-9D38-3EB6-29AD-3047ED739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CE1C7C-EDF3-020A-49A0-D57A083DD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1934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61" r:id="rId11"/>
    <p:sldLayoutId id="2147483658" r:id="rId12"/>
    <p:sldLayoutId id="2147483659" r:id="rId13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3504" y="566928"/>
            <a:ext cx="1874519" cy="36576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30936"/>
            <a:ext cx="17373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1">
                <a:solidFill>
                  <a:srgbClr val="F8F9FB"/>
                </a:solidFill>
              </a:defRPr>
            </a:pPr>
            <a:r>
              <a:t>ДИПЛОМНЫЙ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70432"/>
            <a:ext cx="786384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F8F9FB"/>
                </a:solidFill>
              </a:defRPr>
            </a:pPr>
            <a:r>
              <a:t>Разработка веб-приложения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F8F9FB"/>
                </a:solidFill>
              </a:defRPr>
            </a:pPr>
            <a:r>
              <a:t>для ресторана «Гастрономия»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SPA на Vue 3 + FastAPI backend + SQLite + Docker-деплой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892040"/>
            <a:ext cx="3154680" cy="107899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892040"/>
            <a:ext cx="73152" cy="10789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01768"/>
            <a:ext cx="2898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Студент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67528"/>
            <a:ext cx="2880360" cy="49377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Давранбеков С.Б.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Направление: информационные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системы</a:t>
            </a:r>
            <a:endParaRPr sz="13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69080" y="4892040"/>
            <a:ext cx="3246120" cy="107899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69080" y="4892040"/>
            <a:ext cx="73152" cy="10789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5001768"/>
            <a:ext cx="29900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Предметная область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5367528"/>
            <a:ext cx="2971800" cy="49377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Автоматизация презентации ресторана,</a:t>
            </a:r>
            <a:endParaRPr sz="12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онлайн-заказов и бронирования</a:t>
            </a:r>
            <a:endParaRPr sz="12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43800" y="4892040"/>
            <a:ext cx="3675887" cy="107899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892040"/>
            <a:ext cx="73152" cy="10789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08392" y="5001768"/>
            <a:ext cx="3419855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Результат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5367528"/>
            <a:ext cx="3401567" cy="49377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Публичный сайт, админ-панель,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REST API и Docker-сборка на 3000 порту</a:t>
            </a:r>
            <a:endParaRPr sz="1300" b="0" i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Цель дипломного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Цель и ожидаемый эффект от внедрения цифрового сервиса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6583680" cy="210312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21031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2140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Цель ДП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6309360" cy="151790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700" b="0" i="0">
                <a:solidFill>
                  <a:srgbClr val="B2B8C4"/>
                </a:solidFill>
                <a:latin typeface="Arial"/>
              </a:rPr>
              <a:t>Разработать веб-приложение ресторана «Гастрономия», которое объединяет презентацию бренда, онлайн-бронирование, оформление заказа и административное управление контентом в едином интерфейсе.</a:t>
            </a:r>
            <a:endParaRPr sz="17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4297680"/>
            <a:ext cx="658368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429768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40740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Ожидаемый эффект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773168"/>
            <a:ext cx="630936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Повышение конверсии из посетителя в заявку, сокращение ручной обработки заказов и ускорение обновления контента через админ-панель.</a:t>
            </a:r>
            <a:endParaRPr sz="15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79" y="2011680"/>
            <a:ext cx="1234440" cy="1097280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103120"/>
            <a:ext cx="1234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F8F9FB"/>
                </a:solidFill>
              </a:defRPr>
            </a:pPr>
            <a: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596896"/>
            <a:ext cx="1088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позиций меню</a:t>
            </a:r>
            <a:endParaRPr sz="1000" b="0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в БД</a:t>
            </a:r>
            <a:endParaRPr sz="10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887968" y="2011680"/>
            <a:ext cx="1234440" cy="1097280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2103120"/>
            <a:ext cx="1234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F8F9FB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596896"/>
            <a:ext cx="1088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отзыва</a:t>
            </a:r>
            <a:endParaRPr sz="1000" b="0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в системе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277856" y="2011680"/>
            <a:ext cx="1234440" cy="1097280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77856" y="2103120"/>
            <a:ext cx="1234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F8F9FB"/>
                </a:solidFill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51008" y="2596896"/>
            <a:ext cx="1088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изображений</a:t>
            </a:r>
            <a:endParaRPr sz="1000" b="0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галереи</a:t>
            </a:r>
            <a:endParaRPr sz="1000" b="0" i="0"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52360" y="3429000"/>
            <a:ext cx="3794760" cy="193852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60" y="3429000"/>
            <a:ext cx="73152" cy="193852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3538728"/>
            <a:ext cx="35387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Ключевые показатели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3904488"/>
            <a:ext cx="3520440" cy="135331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5 маршрутов SPA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2 роли пользователей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REST API для меню, отзывов, заказов и галереи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Docker-развертывание для демонстрации</a:t>
            </a:r>
            <a:endParaRPr sz="1500" b="0" i="0"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Сбор требований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Фрагмент интервью с заказчиком и ожидания целевой аудитории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303520" cy="356616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73152" cy="35661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121408"/>
            <a:ext cx="50474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Требования заказчика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5029200" cy="298094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1. Современный визуальный сайт в фирменном стиле ресторана.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2. Публичное меню с ценами, составом и фотографиями.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3. Формы онлайн-заказа и бронирования стола без звонка.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4. Раздел отзывов и галерея для повышения доверия.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5. Админ-панель для самостоятельного обновления данных.</a:t>
            </a:r>
            <a:endParaRPr sz="15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5074920" cy="356616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011680"/>
            <a:ext cx="73152" cy="35661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121408"/>
            <a:ext cx="48188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Ожидания целевой аудитории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487168"/>
            <a:ext cx="4800600" cy="298094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1. Быстро понять ассортимент и стоимость блюд.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2. Удобно пользоваться сайтом со смартфона.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3. Сразу видеть фото интерьера и блюд.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4. Забронировать стол за 1–2 действия.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5. Видеть актуальные отзывы и подтверждение после отправки формы.</a:t>
            </a:r>
            <a:endParaRPr sz="15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На основании требований формируем задачи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Декомпозиция целей в конкретные задачи разработки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1" y="2084832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240280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84832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Спроектировать структуру SPA и пользовательские маршруты.</a:t>
            </a:r>
            <a:endParaRPr sz="15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80760" y="1920240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45352" y="2084832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45352" y="2240280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084832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Разработать REST API для меню, отзывов, галереи, заказов и бронирования.</a:t>
            </a:r>
            <a:endParaRPr sz="15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3218688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1" y="3383280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3538728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83280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Реализовать админ-панель с JWT-аутентификацией и разграничением прав.</a:t>
            </a:r>
            <a:endParaRPr sz="15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080760" y="3218688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45352" y="3383280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3538728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3383280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Спроектировать БД SQLite и инициализировать ее стартовыми данными.</a:t>
            </a:r>
            <a:endParaRPr sz="15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" y="4517136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1" y="4681727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4837175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81727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Провести тестирование интерфейса, API и критических пользовательских сценариев.</a:t>
            </a:r>
            <a:endParaRPr sz="15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080760" y="4517136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245352" y="4681727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4837175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681727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Подготовить контейнеризацию проекта и удобный демонстрационный запуск.</a:t>
            </a:r>
            <a:endParaRPr sz="1500" b="0" i="0"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Диаграмма связей (mindmap)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Основные подсистемы и направления разработки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971800"/>
            <a:ext cx="4206240" cy="96012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40" y="3118104"/>
            <a:ext cx="3931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9FB"/>
                </a:solidFill>
                <a:latin typeface="Arial"/>
              </a:rPr>
              <a:t>Веб-приложение ресторана</a:t>
            </a:r>
            <a:endParaRPr sz="2000" b="1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9FB"/>
                </a:solidFill>
                <a:latin typeface="Arial"/>
              </a:rPr>
              <a:t>«Гастрономия»</a:t>
            </a:r>
            <a:endParaRPr sz="2000" b="1" i="0">
              <a:latin typeface="Arial"/>
            </a:endParaRP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3547872" y="2825496.0"/>
            <a:ext cx="292608" cy="626364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3547872" y="3451860.0"/>
            <a:ext cx="292608" cy="1568196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486400.0" y="2971800"/>
            <a:ext cx="457200.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046720" y="2825496.0"/>
            <a:ext cx="384048" cy="626364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46720" y="3451860.0"/>
            <a:ext cx="384048" cy="1568196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.0" y="3931920"/>
            <a:ext cx="457200.0" cy="141732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" y="2331720"/>
            <a:ext cx="283464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233172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44144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807208"/>
            <a:ext cx="256032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Vue 3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Vue Router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Vuex / Axios</a:t>
            </a:r>
            <a:endParaRPr sz="13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13232" y="4526280"/>
            <a:ext cx="283464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45262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63600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Коммерция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001768"/>
            <a:ext cx="256032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Корзина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Заказ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Бронирование</a:t>
            </a:r>
            <a:endParaRPr sz="13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69080" y="2057400"/>
            <a:ext cx="2834640" cy="9144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69080" y="2057400"/>
            <a:ext cx="73152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33672" y="216712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Контент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2532888"/>
            <a:ext cx="2560320" cy="32918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Меню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Отзывы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Галерея</a:t>
            </a:r>
            <a:endParaRPr sz="13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30768" y="2331720"/>
            <a:ext cx="27889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30768" y="233172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2441448"/>
            <a:ext cx="25328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Администрирование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807208"/>
            <a:ext cx="25146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JWT-вход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CRUD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Статусы заказов</a:t>
            </a:r>
            <a:endParaRPr sz="13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430768" y="4526280"/>
            <a:ext cx="27889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0768" y="45262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636008"/>
            <a:ext cx="25328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Backend /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5001768"/>
            <a:ext cx="25146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FastAPI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SQLAlchemy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SQLite</a:t>
            </a:r>
            <a:endParaRPr sz="13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069080" y="5349240"/>
            <a:ext cx="2834640" cy="9144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9080" y="5349240"/>
            <a:ext cx="73152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33672" y="545896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DevOps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5824728"/>
            <a:ext cx="2560320" cy="32918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Docker Compose</a:t>
            </a:r>
            <a:endParaRPr sz="12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Nginx</a:t>
            </a:r>
            <a:endParaRPr sz="12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Развертывание</a:t>
            </a:r>
            <a:endParaRPr sz="1200" b="0" i="0"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Сценарии использования проектируемого ПП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Основные use-case для гостя и администратора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874519"/>
            <a:ext cx="7498079" cy="425196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38528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Система «Гастрономия»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2816352"/>
            <a:ext cx="1664208" cy="118872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" y="2816352"/>
            <a:ext cx="73152" cy="1188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926080"/>
            <a:ext cx="140817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Гость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255264"/>
            <a:ext cx="1389888" cy="676657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Публичный</a:t>
            </a:r>
            <a:endParaRPr sz="11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пользователь</a:t>
            </a:r>
            <a:endParaRPr sz="11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857232" y="2816352"/>
            <a:ext cx="1773936" cy="118872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57232" y="2816352"/>
            <a:ext cx="73152" cy="1188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21824" y="2926080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Админ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21824" y="3255264"/>
            <a:ext cx="1499616" cy="676657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Авторизованный</a:t>
            </a:r>
            <a:endParaRPr sz="11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сотрудник</a:t>
            </a:r>
            <a:endParaRPr sz="1100" b="0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88920" y="2212848"/>
            <a:ext cx="23317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B2B8C4"/>
                </a:solidFill>
              </a:defRPr>
            </a:pPr>
            <a:r>
              <a:t>Публичные сценарии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12848"/>
            <a:ext cx="25146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B2B8C4"/>
                </a:solidFill>
              </a:defRPr>
            </a:pPr>
            <a:r>
              <a:t>Административные сценарии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0" y="2514600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2928" y="2670048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Просмотреть меню</a:t>
            </a:r>
            <a:endParaRPr sz="1100" b="0" i="0">
              <a:latin typeface="Arial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743200" y="3364992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3520440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Оставить отзыв</a:t>
            </a:r>
            <a:endParaRPr sz="1100" b="0" i="0">
              <a:latin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743200" y="4215384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2928" y="4370832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Оформить заказ</a:t>
            </a:r>
            <a:endParaRPr sz="1100" b="0" i="0">
              <a:latin typeface="Arial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743200" y="5065776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2928" y="5221224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Забронировать стол</a:t>
            </a:r>
            <a:endParaRPr sz="1100" b="0" i="0">
              <a:latin typeface="Arial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00800" y="2514600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2670048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Авторизоваться</a:t>
            </a:r>
            <a:endParaRPr sz="1100" b="0" i="0">
              <a:latin typeface="Arial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0" y="3364992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3520440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Управлять меню</a:t>
            </a:r>
            <a:endParaRPr sz="1100" b="0" i="0">
              <a:latin typeface="Arial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0" y="4215384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370832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Управлять отзывами</a:t>
            </a:r>
            <a:endParaRPr sz="1100" b="0" i="0">
              <a:latin typeface="Arial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00800" y="5065776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0528" y="5221224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Управлять заказами</a:t>
            </a:r>
            <a:endParaRPr sz="1100" b="0" i="0">
              <a:latin typeface="Arial"/>
            </a:endParaRPr>
          </a:p>
        </p:txBody>
      </p:sp>
      <p:cxnSp>
        <p:nvCxnSpPr>
          <p:cNvPr id="34" name="Connector 33"/>
          <p:cNvCxnSpPr/>
          <p:nvPr/>
        </p:nvCxnSpPr>
        <p:spPr>
          <a:xfrm flipV="1">
            <a:off x="2103120" y="2798064"/>
            <a:ext cx="640080" cy="61264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103120" y="3410712"/>
            <a:ext cx="640080" cy="237744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103120" y="3410712"/>
            <a:ext cx="640080" cy="1088136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103120" y="3410712"/>
            <a:ext cx="640080" cy="193852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8869680" y="2798064"/>
            <a:ext cx="987552" cy="61264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869680" y="3410712"/>
            <a:ext cx="987552" cy="237744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8869680" y="3410712"/>
            <a:ext cx="987552" cy="1088136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8869680" y="3410712"/>
            <a:ext cx="987552" cy="193852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Прототипы / макеты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Реальные экраны реализованного интерфейса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920240"/>
            <a:ext cx="3657600" cy="338328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_slide7_1228x800_r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93392"/>
            <a:ext cx="3511296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407408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Главная страница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4663440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презентация ресторана, CTA и блоки контента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3" y="1920240"/>
            <a:ext cx="3657600" cy="338328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nu_slide7_1228x800_r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993392"/>
            <a:ext cx="3511296" cy="2286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53712" y="4407408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Каталог меню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663440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фильтрация категорий и добавление в корзину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920240"/>
            <a:ext cx="3657600" cy="338328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dmin_slide7_1228x800_r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1993392"/>
            <a:ext cx="3511296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5903" y="4407408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Админ-панель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63440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точка входа для управления контентом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Архитектура ПП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Логическая схема развертывания и взаимодействия компонентов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214884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50008"/>
            <a:ext cx="18928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Клиентский слой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15768"/>
            <a:ext cx="187452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Браузер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Vue 3 SPA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Vue Router / Vuex</a:t>
            </a:r>
            <a:endParaRPr sz="14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063240" y="2240280"/>
            <a:ext cx="224028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6324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2350008"/>
            <a:ext cx="19842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Web-слой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715768"/>
            <a:ext cx="196596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Nginx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статический frontend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прокси /api и /images</a:t>
            </a:r>
            <a:endParaRPr sz="14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77840" y="2240280"/>
            <a:ext cx="224028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42432" y="2350008"/>
            <a:ext cx="19842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Сервер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2715768"/>
            <a:ext cx="196596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FastAPI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REST API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JWT, CORS, upload</a:t>
            </a:r>
            <a:endParaRPr sz="14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38160" y="2240280"/>
            <a:ext cx="283464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35000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Хранение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715768"/>
            <a:ext cx="256032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SQLite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каталог images/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seed-данные и backup</a:t>
            </a:r>
            <a:endParaRPr sz="1400" b="0" i="0">
              <a:latin typeface="Arial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834640" y="3072384"/>
            <a:ext cx="22860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303520" y="3072384"/>
            <a:ext cx="27432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3072384"/>
            <a:ext cx="32004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" y="4572000"/>
            <a:ext cx="315468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7200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681728"/>
            <a:ext cx="2898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Интеграции фронта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" y="5047488"/>
            <a:ext cx="288036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GET/POST через Axios: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/api/menu, /api/reviews, /api/orders,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/api/table-reservations</a:t>
            </a:r>
            <a:endParaRPr sz="1300" b="0" i="0"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160520" y="4572000"/>
            <a:ext cx="2926080" cy="132588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0520" y="457200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25112" y="4681728"/>
            <a:ext cx="26700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Безопасность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5112" y="5047488"/>
            <a:ext cx="265176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JWT для админки,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валидация входных данных,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ограничение upload по MIME-типу</a:t>
            </a:r>
            <a:endParaRPr sz="1300" b="0" i="0">
              <a:latin typeface="Arial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315200" y="4572000"/>
            <a:ext cx="388620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0" y="457200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79792" y="4681728"/>
            <a:ext cx="36301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Инфраструктура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5047488"/>
            <a:ext cx="361188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Docker Compose объединяет frontend и backend,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а демонстрация публикуется на порту 3000.</a:t>
            </a:r>
            <a:endParaRPr sz="1300" b="0" i="0"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Структура базы данных (ERD)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Физическая модель данных проекта на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24028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24028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47672"/>
            <a:ext cx="2240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menu_items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77440"/>
            <a:ext cx="210312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name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category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price / weight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composition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image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featured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920240"/>
            <a:ext cx="214884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920240"/>
            <a:ext cx="214884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947672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377440"/>
            <a:ext cx="201168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name / 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rating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text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answer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created_at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920240"/>
            <a:ext cx="224028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32120" y="1920240"/>
            <a:ext cx="224028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1947672"/>
            <a:ext cx="2240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gallery_images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2377440"/>
            <a:ext cx="210312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src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alt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description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category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created_at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20240"/>
            <a:ext cx="256032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20240"/>
            <a:ext cx="256032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94767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orders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377440"/>
            <a:ext cx="242316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items (JSON)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total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customer_phone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customer_email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status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created_at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023360"/>
            <a:ext cx="2743200" cy="150876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023360"/>
            <a:ext cx="274320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050792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users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4480560"/>
            <a:ext cx="2606040" cy="9784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username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hashed_password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is_active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is_admin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486400" y="3611880"/>
            <a:ext cx="0" cy="411480"/>
          </a:xfrm>
          <a:prstGeom prst="line">
            <a:avLst/>
          </a:prstGeom>
          <a:ln w="25400">
            <a:solidFill>
              <a:srgbClr val="B2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B2B8C4"/>
                </a:solidFill>
              </a:defRPr>
            </a:pPr>
            <a:r>
              <a:t>Примечание: для таблицы orders состав заказа хранится как JSON-строка в поле items, а связь пользователя с контентом реализуется логически через защищенные API-эндпоинты.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Разработка ПП: инструментальные и программные средства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Технологический стек проекта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29000" cy="29718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73152" cy="2971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31729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41448"/>
            <a:ext cx="3154680" cy="238658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Vue 3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Vite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Tailwind CSS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Vue Router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Vuex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Axios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29000" cy="297180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965960"/>
            <a:ext cx="73152" cy="2971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75688"/>
            <a:ext cx="31729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441448"/>
            <a:ext cx="3154680" cy="238658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FastAPI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SQLAlchemy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SQLite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Pydantic schemas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JWT + passlib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Upload image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154680" cy="29718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965960"/>
            <a:ext cx="73152" cy="2971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075688"/>
            <a:ext cx="2898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Инструменты и DevOps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441448"/>
            <a:ext cx="2880360" cy="238658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VS Code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Git / GitHub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Docker Compose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Nginx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Chrome DevTools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python-pptx для генерации презентации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Календарный план разработки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Этапы выполнения дипломного проекта по неделям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57400"/>
            <a:ext cx="19202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00" b="1">
                <a:solidFill>
                  <a:srgbClr val="F8F9FB"/>
                </a:solidFill>
              </a:defRPr>
            </a:pPr>
            <a:r>
              <a:t>Этап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70632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70632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3864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7096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6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0328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50024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0024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63256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63256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523744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Сбор требований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0632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3864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10328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23560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6792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50024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63256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70632" y="2487168"/>
            <a:ext cx="694944" cy="27432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999232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Проектирование UI/UX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70632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83864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7096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910328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36792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50024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63256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70632" y="2962656"/>
            <a:ext cx="1408176" cy="2743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3474720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Frontend SPA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70632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83864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97096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910328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623560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36792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50024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63256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483864" y="3438144"/>
            <a:ext cx="2121408" cy="274320"/>
          </a:xfrm>
          <a:prstGeom prst="roundRect">
            <a:avLst/>
          </a:prstGeom>
          <a:solidFill>
            <a:srgbClr val="569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3232" y="3950207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Backend + БД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70632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83864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97096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10328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23560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36792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50024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63256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97096" y="3913631"/>
            <a:ext cx="2121408" cy="27432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4425695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Интеграция API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70632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83864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97096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910328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23560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36792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50024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763256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623560" y="4389119"/>
            <a:ext cx="1408176" cy="2743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3232" y="4901183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Тестирование и bugfix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70632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483864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97096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10328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23560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36792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50024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763256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6336792" y="4864607"/>
            <a:ext cx="1408176" cy="274320"/>
          </a:xfrm>
          <a:prstGeom prst="roundRect">
            <a:avLst/>
          </a:prstGeom>
          <a:solidFill>
            <a:srgbClr val="44C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" y="5376671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Docker и подготовка к защите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70632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483864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97096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910328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623560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36792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50024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3256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050024" y="5340095"/>
            <a:ext cx="1408176" cy="274320"/>
          </a:xfrm>
          <a:prstGeom prst="roundRect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Доска задач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Kanban-представление состояния работ по проекту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4088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Backlog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B2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Аналитика посещаемости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B2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Email/SMS уведомления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831335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B2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931920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Онлайн-оплата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75304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75304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In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0168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21608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Сохранение бронирований в БД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0168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1608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Расширение формы бронирования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36792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Review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01383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67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92824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UX-сообщения об ошибках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1383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67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Документация по развертыванию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08008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17736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Done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72600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64040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Маршруты SPA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72600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64040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Меню / отзывы / галерея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72600" y="3831335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3931920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Корзина и заказ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72600" y="4489703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4590288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JWT-админка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72600" y="5148071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5248655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Docker-развертывание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Тест-план / тест-кейсы и bug-report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Для презентации выбраны один пройденный и один проваленный кейс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6583680" cy="40690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40690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Фрагмент тест-кейсов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6309360" cy="34838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На изображении ниже представлен фрагмент таблицы, оформленной в Word-стиле: один кейс успешно пройден, один — провален.</a:t>
            </a:r>
          </a:p>
        </p:txBody>
      </p:sp>
      <p:pic>
        <p:nvPicPr>
          <p:cNvPr id="10" name="Picture 9" descr="test_cases_word_style.png"/>
          <p:cNvPicPr>
            <a:picLocks noChangeAspect="1"/>
          </p:cNvPicPr>
          <p:nvPr/>
        </p:nvPicPr>
        <p:blipFill>
          <a:blip r:embed="rId2"/>
          <a:srcRect t="5901" b="5901"/>
          <a:stretch>
            <a:fillRect/>
          </a:stretch>
        </p:blipFill>
        <p:spPr>
          <a:xfrm>
            <a:off x="804672" y="2395728"/>
            <a:ext cx="6309360" cy="3246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828800"/>
            <a:ext cx="3749039" cy="406908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828800"/>
            <a:ext cx="73152" cy="40690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16952" y="1938528"/>
            <a:ext cx="3493007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Bug-report: BUG-02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6952" y="2304288"/>
            <a:ext cx="3474719" cy="34838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Название: нельзя удалить цифры кода города, если курсор упирается в )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Шаги: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1. Открыть форму бронирования.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2. Ввести +7 (923)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3. Нажать Backspace/Delete рядом со скобкой.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Ожидаемо: цифры удаляются, номер корректируется.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Фактически: курсор стопорится на символе ')'.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Приоритет: Medium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Статус: Исправлено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Информационная безопасность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Базовые меры защиты, реализованные в проекте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502920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29968"/>
            <a:ext cx="47731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Аутентификация и доступ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475488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JWT-токен используется для входа в админ-панель, а CRUD-операции над контентом и заказами защищены зависимостью get_current_admin_user.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920240"/>
            <a:ext cx="5394960" cy="132588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192024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2029968"/>
            <a:ext cx="51389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Валидация и защита ввода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395728"/>
            <a:ext cx="512064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На клиенте и сервере выполняется проверка данных форм, ограничение типа загружаемых файлов и обработка ошибок через HTTPException.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66160"/>
            <a:ext cx="5029200" cy="141732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566160"/>
            <a:ext cx="73152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675888"/>
            <a:ext cx="47731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Хранение и учетные данные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41648"/>
            <a:ext cx="4754880" cy="83210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Пароли администратора хешируются через bcrypt/passlib, чувствительные параметры вынесены в .env, а БД хранится отдельно от frontend-контейнера.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566160"/>
            <a:ext cx="5394960" cy="141732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3566160"/>
            <a:ext cx="73152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3675888"/>
            <a:ext cx="51389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Инфраструктурная устойчивость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4041648"/>
            <a:ext cx="5120640" cy="83210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Docker-изоляция разделяет frontend и backend, каталоги images и restaurant.db вынесены в постоянное хранилище, что упрощает резервное копирование.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Экономика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Оценка трудозатрат и ожидаемого эффекта от внедрения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989320" cy="420624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57332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Оценка трудозатрат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5715000" cy="354787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1. Анализ требований и структура — 24 ч × 500 ₽ = 12 000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2. Frontend (Vue SPA) — 72 ч × 550 ₽ = 39 600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3. Backend и БД — 64 ч × 550 ₽ = 35 200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4. Тестирование и исправления — 28 ч × 500 ₽ = 14 000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5. Docker, документация и презентация — 24 ч × 500 ₽ = 12 000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Итого ориентировочная стоимость разработки: 112 800 ₽</a:t>
            </a:r>
            <a:endParaRPr sz="1500" b="0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479792" y="1965960"/>
            <a:ext cx="3337560" cy="1078992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2057400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8F9FB"/>
                </a:solidFill>
              </a:defRPr>
            </a:pPr>
            <a:r>
              <a:t>≈ 113 тыс.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551176"/>
            <a:ext cx="319125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оценка стоимости разработки</a:t>
            </a:r>
            <a:endParaRPr sz="11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79792" y="3364992"/>
            <a:ext cx="3337560" cy="1078992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3456432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F8F9FB"/>
                </a:solidFill>
              </a:defRPr>
            </a:pPr>
            <a:r>
              <a:t>≈ 25–35 тыс. ₽/мес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3950208"/>
            <a:ext cx="319125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потенциальный ежемесячный эффект</a:t>
            </a:r>
            <a:endParaRPr sz="11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79792" y="4764024"/>
            <a:ext cx="3337560" cy="1078992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4855464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900" b="1">
                <a:solidFill>
                  <a:srgbClr val="F8F9FB"/>
                </a:solidFill>
              </a:defRPr>
            </a:pPr>
            <a:r>
              <a:t>4–5 месяцев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5349240"/>
            <a:ext cx="319125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ориентировочный срок окупаемости</a:t>
            </a:r>
            <a:endParaRPr sz="1100" b="0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QR-код на программный продукт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Демо-ссылка для быстрого перехода к развернутому приложению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38528"/>
            <a:ext cx="3566160" cy="35661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240280"/>
            <a:ext cx="292608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49240" y="1938528"/>
            <a:ext cx="5486400" cy="3822191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49240" y="1938528"/>
            <a:ext cx="73152" cy="3822191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3832" y="2048256"/>
            <a:ext cx="52303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Демо-стенд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3832" y="2523744"/>
            <a:ext cx="5212080" cy="3127247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URL для открытия проекта: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http://192.168.0.246:3000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Что доступно по ссылке: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• публичный frontend ресторана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• проксирование API через nginx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• backend FastAPI в Docker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Данные для входа в админку: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admin / admin123</a:t>
            </a:r>
            <a:endParaRPr sz="16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F7A00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691640"/>
            <a:ext cx="80467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1">
                <a:solidFill>
                  <a:srgbClr val="F8F9FB"/>
                </a:solidFill>
              </a:defRPr>
            </a:pPr>
            <a:r>
              <a:t>Разработка веб-приложения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3000" b="1">
                <a:solidFill>
                  <a:srgbClr val="F8F9FB"/>
                </a:solidFill>
              </a:defRPr>
            </a:pPr>
            <a:r>
              <a:t>для ресторана «Гастрономия»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926080"/>
            <a:ext cx="7772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Проект объединяет клиентский сайт, формы заказа/бронирования, админ-панель и Docker-развертывание.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983480"/>
            <a:ext cx="32461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9834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5093208"/>
            <a:ext cx="29900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Студент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5458968"/>
            <a:ext cx="29718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Давранбеков С.Б.</a:t>
            </a:r>
            <a:endParaRPr sz="14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60520" y="4983480"/>
            <a:ext cx="32461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49834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5093208"/>
            <a:ext cx="29900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Проект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5458968"/>
            <a:ext cx="29718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Ресторан «Гастрономия»</a:t>
            </a:r>
            <a:endParaRPr sz="14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635240" y="4983480"/>
            <a:ext cx="3429000" cy="987552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49834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2" y="5093208"/>
            <a:ext cx="31729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Демо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2" y="5458968"/>
            <a:ext cx="315468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http://192.168.0.246:3000</a:t>
            </a:r>
            <a:endParaRPr sz="1400" b="0" i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188</Words>
  <Application>Microsoft Office PowerPoint</Application>
  <PresentationFormat>Широкоэкранный</PresentationFormat>
  <Paragraphs>62</Paragraphs>
  <Slides>15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Arial Nova</vt:lpstr>
      <vt:lpstr>Arial Nova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Токарева Алина</dc:creator>
  <cp:lastModifiedBy>Токарева Алина</cp:lastModifiedBy>
  <cp:revision>36</cp:revision>
  <dcterms:created xsi:type="dcterms:W3CDTF">2025-10-10T09:35:33Z</dcterms:created>
  <dcterms:modified xsi:type="dcterms:W3CDTF">2026-04-09T06:56:09Z</dcterms:modified>
</cp:coreProperties>
</file>