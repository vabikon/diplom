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6"/>
    <p:sldId id="267" r:id="rId5"/>
    <p:sldId id="268" r:id="rId4"/>
    <p:sldId id="269" r:id="rId3"/>
    <p:sldId id="270" r:id="rId2"/>
    <p:sldId id="271" r:id="rId22"/>
    <p:sldId id="272" r:id="rId23"/>
  </p:sldIdLst>
  <p:sldSz cx="12192000" cy="6858000"/>
  <p:notesSz cx="6858000" cy="9144000"/>
  <p:defaultTextStyle>
    <a:defPPr>
      <a:defRPr lang="ru-B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96737"/>
    <a:srgbClr val="F3ECDD"/>
    <a:srgbClr val="C06225"/>
    <a:srgbClr val="EAE0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5.xml"/><Relationship Id="rId3" Type="http://schemas.openxmlformats.org/officeDocument/2006/relationships/slide" Target="slides/slide14.xml"/><Relationship Id="rId4" Type="http://schemas.openxmlformats.org/officeDocument/2006/relationships/slide" Target="slides/slide13.xml"/><Relationship Id="rId5" Type="http://schemas.openxmlformats.org/officeDocument/2006/relationships/slide" Target="slides/slide12.xml"/><Relationship Id="rId6" Type="http://schemas.openxmlformats.org/officeDocument/2006/relationships/slide" Target="slides/slide1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BY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FF4166-A08C-4357-8099-9BAEEED705A6}" type="datetimeFigureOut">
              <a:rPr lang="ru-BY" smtClean="0"/>
              <a:t>04/09/2026</a:t>
            </a:fld>
            <a:endParaRPr lang="ru-BY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BY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BY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19F064-4120-4894-AB6C-882A1E2BC3B7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615462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4F7044-DEBD-EA5C-95C5-D861D49553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9C0A383-E288-176B-9AAB-C67F144AA6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B203F6-9440-E41A-B11B-C31566DED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09615-B1D8-4567-8C9A-0D3156D40690}" type="datetimeFigureOut">
              <a:rPr lang="ru-BY" smtClean="0"/>
              <a:t>04/09/2026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69F3EC-F49A-01B3-D288-E417F237B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700F03A-B6CA-B436-AFAA-6B0AB9D67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E0A2F-BE46-44CF-A487-00CBD62EC2A5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134425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F9257C-56A0-4AB7-8B60-DF94D9179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5A116C-B711-707C-0E79-08492F2DEB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6DF581-7206-9287-FF9F-171C4D805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09615-B1D8-4567-8C9A-0D3156D40690}" type="datetimeFigureOut">
              <a:rPr lang="ru-BY" smtClean="0"/>
              <a:t>04/09/2026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2573F17-7FCD-9D8A-5C51-9A4C1EE92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4871BA-7954-D6D8-FB38-5DB5D92ED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E0A2F-BE46-44CF-A487-00CBD62EC2A5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87501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ED0702-A8A6-00E1-C916-5A8AED53C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F3C5FC1-3FFE-A818-AF45-5129D30F22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ECAB2B-90E8-7526-F03A-F6AD19BDA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09615-B1D8-4567-8C9A-0D3156D40690}" type="datetimeFigureOut">
              <a:rPr lang="ru-BY" smtClean="0"/>
              <a:t>04/09/2026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1D0D05-1E5C-FD48-6706-09DF7A524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EBF84D2-9303-338F-FB01-368F2C7CA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E0A2F-BE46-44CF-A487-00CBD62EC2A5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210204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91AC4D-49BC-24CC-0386-AB6432FD4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0CBFAF-5531-5C89-EC4F-354AE98E2D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1FE2F89-E42A-BB59-4690-F8AC013B9E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59B64B0-273B-6355-85A4-04E1D12F3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09615-B1D8-4567-8C9A-0D3156D40690}" type="datetimeFigureOut">
              <a:rPr lang="ru-BY" smtClean="0"/>
              <a:t>04/09/2026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FAC4EC7-E714-EC22-1D25-A39FFD9E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B697C7A-8A40-45A8-5BBB-F0CD16D1C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E0A2F-BE46-44CF-A487-00CBD62EC2A5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468200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573188-89A3-39C9-3A04-C96743BE2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9D64F77-F550-A97B-54D3-48E3E988E4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9B7BE79-8EA9-6C6A-8602-8141DCCEFE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3F171AD-DA9A-52B5-BD15-38D5C78D7C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0126EC9-6731-7527-5D51-1C0DA942AC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B3597705-AE28-28A6-BBFB-3E8BB3531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09615-B1D8-4567-8C9A-0D3156D40690}" type="datetimeFigureOut">
              <a:rPr lang="ru-BY" smtClean="0"/>
              <a:t>04/09/2026</a:t>
            </a:fld>
            <a:endParaRPr lang="ru-BY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535FD94-E9F7-DC18-689D-8F34CFB6D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26CFB52-1B94-A3F8-95B3-A40642B92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E0A2F-BE46-44CF-A487-00CBD62EC2A5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69000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B91A71-156D-C937-EA63-40B8E3A9B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5C4AF38-97E1-D5E0-51E8-4AB0EBE43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09615-B1D8-4567-8C9A-0D3156D40690}" type="datetimeFigureOut">
              <a:rPr lang="ru-BY" smtClean="0"/>
              <a:t>04/09/2026</a:t>
            </a:fld>
            <a:endParaRPr lang="ru-BY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3258491-E5E1-4901-A53F-D41B8194A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3A99752-739A-3841-24A5-D2F2CBF7A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E0A2F-BE46-44CF-A487-00CBD62EC2A5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2284601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D2C1614-6684-9817-6A62-1EFB8A6E3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09615-B1D8-4567-8C9A-0D3156D40690}" type="datetimeFigureOut">
              <a:rPr lang="ru-BY" smtClean="0"/>
              <a:t>04/09/2026</a:t>
            </a:fld>
            <a:endParaRPr lang="ru-BY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B3C35EC-50DD-4E9F-964E-D2A9101E2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40D864-754A-B9A3-98FC-CC47D4CC4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E0A2F-BE46-44CF-A487-00CBD62EC2A5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122882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AA2E4E-7AB5-C5C2-E87A-BAC882A46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6495B3-A813-0423-A9E6-16E4010F4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0946D08-9730-52F2-78C5-2B330EBC47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D709F2E-4F5D-4BF9-5E3C-975A127E1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09615-B1D8-4567-8C9A-0D3156D40690}" type="datetimeFigureOut">
              <a:rPr lang="ru-BY" smtClean="0"/>
              <a:t>04/09/2026</a:t>
            </a:fld>
            <a:endParaRPr lang="ru-BY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CD03245-C755-26F0-5977-84101DEEE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80AA682-51D7-0938-6A02-34D4E8896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E0A2F-BE46-44CF-A487-00CBD62EC2A5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046041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그림 개체 틀 5">
            <a:extLst>
              <a:ext uri="{FF2B5EF4-FFF2-40B4-BE49-F238E27FC236}">
                <a16:creationId xmlns:a16="http://schemas.microsoft.com/office/drawing/2014/main" id="{A438A76A-88BF-4DD1-791B-996E4FE20E93}"/>
              </a:ext>
            </a:extLst>
          </p:cNvPr>
          <p:cNvSpPr txBox="1">
            <a:spLocks/>
          </p:cNvSpPr>
          <p:nvPr userDrawn="1"/>
        </p:nvSpPr>
        <p:spPr>
          <a:xfrm>
            <a:off x="882494" y="1203960"/>
            <a:ext cx="5842310" cy="4450080"/>
          </a:xfrm>
          <a:prstGeom prst="roundRect">
            <a:avLst>
              <a:gd name="adj" fmla="val 7515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vert="horz" lIns="91440" tIns="45720" rIns="91440" bIns="45720" rtlCol="0" anchor="b" anchorCtr="1"/>
          <a:lstStyle>
            <a:defPPr>
              <a:defRPr lang="ru-BY"/>
            </a:defPPr>
            <a:lvl1pPr marL="0" marR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1A5F91F-A107-61DE-D313-1AB7DD8FD7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82494" y="1203961"/>
            <a:ext cx="5842310" cy="4450080"/>
          </a:xfrm>
          <a:prstGeom prst="roundRect">
            <a:avLst>
              <a:gd name="adj" fmla="val 7516"/>
            </a:avLst>
          </a:prstGeom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41019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그림 개체 틀 8">
            <a:extLst>
              <a:ext uri="{FF2B5EF4-FFF2-40B4-BE49-F238E27FC236}">
                <a16:creationId xmlns:a16="http://schemas.microsoft.com/office/drawing/2014/main" id="{D3C8DFD0-630C-9601-B06D-FFEB048DBCFB}"/>
              </a:ext>
            </a:extLst>
          </p:cNvPr>
          <p:cNvSpPr txBox="1">
            <a:spLocks/>
          </p:cNvSpPr>
          <p:nvPr userDrawn="1"/>
        </p:nvSpPr>
        <p:spPr>
          <a:xfrm>
            <a:off x="5370626" y="1092200"/>
            <a:ext cx="5842311" cy="4267200"/>
          </a:xfrm>
          <a:prstGeom prst="roundRect">
            <a:avLst>
              <a:gd name="adj" fmla="val 6733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vert="horz" lIns="91440" tIns="45720" rIns="91440" bIns="45720" rtlCol="0" anchor="b" anchorCtr="1"/>
          <a:lstStyle>
            <a:defPPr>
              <a:defRPr lang="ru-BY"/>
            </a:defPPr>
            <a:lvl1pPr marL="228600" marR="0" indent="-22860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ko-KR" altLang="en-US" dirty="0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1A5F91F-A107-61DE-D313-1AB7DD8FD7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70627" y="1092200"/>
            <a:ext cx="5842310" cy="4267200"/>
          </a:xfrm>
          <a:prstGeom prst="roundRect">
            <a:avLst>
              <a:gd name="adj" fmla="val 6667"/>
            </a:avLst>
          </a:prstGeom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144908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Рисунок 2">
            <a:extLst>
              <a:ext uri="{FF2B5EF4-FFF2-40B4-BE49-F238E27FC236}">
                <a16:creationId xmlns:a16="http://schemas.microsoft.com/office/drawing/2014/main" id="{81A5F91F-A107-61DE-D313-1AB7DD8FD7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581097" y="1217228"/>
            <a:ext cx="2442200" cy="4423546"/>
          </a:xfrm>
          <a:prstGeom prst="roundRect">
            <a:avLst>
              <a:gd name="adj" fmla="val 12923"/>
            </a:avLst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BY"/>
          </a:p>
        </p:txBody>
      </p:sp>
      <p:sp>
        <p:nvSpPr>
          <p:cNvPr id="8" name="그림 개체 틀 11">
            <a:extLst>
              <a:ext uri="{FF2B5EF4-FFF2-40B4-BE49-F238E27FC236}">
                <a16:creationId xmlns:a16="http://schemas.microsoft.com/office/drawing/2014/main" id="{112C5AC5-CEE1-8A2C-32BC-6AFA73A88BAB}"/>
              </a:ext>
            </a:extLst>
          </p:cNvPr>
          <p:cNvSpPr txBox="1">
            <a:spLocks/>
          </p:cNvSpPr>
          <p:nvPr userDrawn="1"/>
        </p:nvSpPr>
        <p:spPr>
          <a:xfrm>
            <a:off x="7581097" y="1217227"/>
            <a:ext cx="2442199" cy="4423546"/>
          </a:xfrm>
          <a:prstGeom prst="roundRect">
            <a:avLst>
              <a:gd name="adj" fmla="val 13697"/>
            </a:avLst>
          </a:prstGeom>
          <a:pattFill prst="pct10">
            <a:fgClr>
              <a:schemeClr val="bg1">
                <a:lumMod val="75000"/>
              </a:schemeClr>
            </a:fgClr>
            <a:bgClr>
              <a:schemeClr val="bg1">
                <a:lumMod val="95000"/>
              </a:schemeClr>
            </a:bgClr>
          </a:pattFill>
        </p:spPr>
        <p:txBody>
          <a:bodyPr vert="horz" lIns="91440" tIns="45720" rIns="91440" bIns="45720" rtlCol="0" anchor="b" anchorCtr="1"/>
          <a:lstStyle>
            <a:defPPr>
              <a:defRPr lang="ru-BY"/>
            </a:defPPr>
            <a:lvl1pPr marL="0" algn="ctr" defTabSz="914400" rtl="0" eaLnBrk="1" latinLnBrk="0" hangingPunct="1">
              <a:defRPr lang="ko-KR" altLang="en-US" sz="2000" kern="1200" dirty="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906044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EDE0F4-92B6-3165-5BE3-F2358541F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ABB97EF-CA39-15AB-CC76-9CFC686F91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2512B4-16BE-F1DA-B072-14D7A21AB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09615-B1D8-4567-8C9A-0D3156D40690}" type="datetimeFigureOut">
              <a:rPr lang="ru-BY" smtClean="0"/>
              <a:t>04/09/2026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E6C4E5-119F-E626-3E91-C87DD9D17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F631EB0-7E39-04BE-32E5-3BC2D335A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E0A2F-BE46-44CF-A487-00CBD62EC2A5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9228754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CDBD770-D7B6-A05D-B7EA-7A5EF7B5EA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3BC53D1-98F1-7D91-AC06-C53C47D2E6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B71024D-6CB6-A30A-4757-2BE0668F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A09615-B1D8-4567-8C9A-0D3156D40690}" type="datetimeFigureOut">
              <a:rPr lang="ru-BY" smtClean="0"/>
              <a:t>04/09/2026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529095F-4DE3-C8D0-A234-8589AB956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7EB5AA-8CE0-CA96-B441-2AE8AD237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E0A2F-BE46-44CF-A487-00CBD62EC2A5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9028597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2515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6D3716-820A-24CD-9FEA-A65153550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BY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862F390-9683-62B5-C2DC-00334A29E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BY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5639568-22A8-CAAD-49AD-A6618F627B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A09615-B1D8-4567-8C9A-0D3156D40690}" type="datetimeFigureOut">
              <a:rPr lang="ru-BY" smtClean="0"/>
              <a:t>04/09/2026</a:t>
            </a:fld>
            <a:endParaRPr lang="ru-BY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482EA93-9D38-3EB6-29AD-3047ED7391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BY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ECE1C7C-EDF3-020A-49A0-D57A083DDA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BE0A2F-BE46-44CF-A487-00CBD62EC2A5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519343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2" r:id="rId10"/>
    <p:sldLayoutId id="2147483661" r:id="rId11"/>
    <p:sldLayoutId id="2147483658" r:id="rId12"/>
    <p:sldLayoutId id="2147483659" r:id="rId13"/>
    <p:sldLayoutId id="2147483660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BY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51560" y="6016752"/>
            <a:ext cx="1874519" cy="150876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21240" y="-868680"/>
            <a:ext cx="2240280" cy="1920240"/>
          </a:xfrm>
          <a:prstGeom prst="ellipse">
            <a:avLst/>
          </a:prstGeom>
          <a:solidFill>
            <a:srgbClr val="FF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6016752"/>
            <a:ext cx="2331720" cy="155448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3504" y="566928"/>
            <a:ext cx="1874519" cy="365760"/>
          </a:xfrm>
          <a:prstGeom prst="round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30936"/>
            <a:ext cx="173736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100" b="1">
                <a:solidFill>
                  <a:srgbClr val="F8F9FB"/>
                </a:solidFill>
              </a:defRPr>
            </a:pPr>
            <a:r>
              <a:t>ДИПЛОМНЫЙ ПРОЕКТ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170432"/>
            <a:ext cx="7863840" cy="1051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F8F9FB"/>
                </a:solidFill>
              </a:defRPr>
            </a:pPr>
            <a:r>
              <a:t>Разработка веб-приложения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2800" b="1">
                <a:solidFill>
                  <a:srgbClr val="F8F9FB"/>
                </a:solidFill>
              </a:defRPr>
            </a:pPr>
            <a:r>
              <a:t>для ресторана «Гастрономия»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86000"/>
            <a:ext cx="758952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0">
                <a:solidFill>
                  <a:srgbClr val="B2B8C4"/>
                </a:solidFill>
              </a:defRPr>
            </a:pPr>
            <a:r>
              <a:t>SPA на Vue 3 + FastAPI backend + SQLite + Docker-деплой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892040"/>
            <a:ext cx="3154680" cy="1078992"/>
          </a:xfrm>
          <a:prstGeom prst="roundRect">
            <a:avLst/>
          </a:prstGeom>
          <a:solidFill>
            <a:srgbClr val="192335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4892040"/>
            <a:ext cx="73152" cy="10789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001768"/>
            <a:ext cx="289864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Студент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367528"/>
            <a:ext cx="2880360" cy="493776"/>
          </a:xfrm>
          <a:prstGeom prst="rect">
            <a:avLst/>
          </a:prstGeom>
          <a:noFill/>
        </p:spPr>
        <p:txBody>
          <a:bodyPr wrap="square" anchor="t" lIns="18288" rIns="27432" tIns="9144" bIns="18288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B2B8C4"/>
                </a:solidFill>
                <a:latin typeface="Arial"/>
              </a:rPr>
              <a:t>Давранбеков С.Б.</a:t>
            </a:r>
            <a:endParaRPr sz="13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B2B8C4"/>
                </a:solidFill>
                <a:latin typeface="Arial"/>
              </a:rPr>
              <a:t>Направление: информационные</a:t>
            </a:r>
            <a:endParaRPr sz="13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B2B8C4"/>
                </a:solidFill>
                <a:latin typeface="Arial"/>
              </a:rPr>
              <a:t>системы</a:t>
            </a:r>
            <a:endParaRPr sz="1300" b="0" i="0"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069080" y="4892040"/>
            <a:ext cx="3246120" cy="1078992"/>
          </a:xfrm>
          <a:prstGeom prst="roundRect">
            <a:avLst/>
          </a:prstGeom>
          <a:solidFill>
            <a:srgbClr val="192335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9080" y="4892040"/>
            <a:ext cx="73152" cy="10789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33672" y="5001768"/>
            <a:ext cx="299008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Предметная область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33672" y="5367528"/>
            <a:ext cx="2971800" cy="493776"/>
          </a:xfrm>
          <a:prstGeom prst="rect">
            <a:avLst/>
          </a:prstGeom>
          <a:noFill/>
        </p:spPr>
        <p:txBody>
          <a:bodyPr wrap="square" anchor="t" lIns="18288" rIns="27432" tIns="9144" bIns="18288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0" i="0">
                <a:solidFill>
                  <a:srgbClr val="B2B8C4"/>
                </a:solidFill>
                <a:latin typeface="Arial"/>
              </a:rPr>
              <a:t>Автоматизация презентации ресторана,</a:t>
            </a:r>
            <a:endParaRPr sz="12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0" i="0">
                <a:solidFill>
                  <a:srgbClr val="B2B8C4"/>
                </a:solidFill>
                <a:latin typeface="Arial"/>
              </a:rPr>
              <a:t>онлайн-заказов и бронирования</a:t>
            </a:r>
            <a:endParaRPr sz="1200" b="0" i="0">
              <a:latin typeface="Arial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543800" y="4892040"/>
            <a:ext cx="3675887" cy="1078992"/>
          </a:xfrm>
          <a:prstGeom prst="roundRect">
            <a:avLst/>
          </a:prstGeom>
          <a:solidFill>
            <a:srgbClr val="192335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43800" y="4892040"/>
            <a:ext cx="73152" cy="107899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08392" y="5001768"/>
            <a:ext cx="3419855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Результат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08392" y="5367528"/>
            <a:ext cx="3401567" cy="493776"/>
          </a:xfrm>
          <a:prstGeom prst="rect">
            <a:avLst/>
          </a:prstGeom>
          <a:noFill/>
        </p:spPr>
        <p:txBody>
          <a:bodyPr wrap="square" anchor="t" lIns="18288" rIns="27432" tIns="9144" bIns="18288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B2B8C4"/>
                </a:solidFill>
                <a:latin typeface="Arial"/>
              </a:rPr>
              <a:t>Публичный сайт, админ-панель,</a:t>
            </a:r>
            <a:endParaRPr sz="13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B2B8C4"/>
                </a:solidFill>
                <a:latin typeface="Arial"/>
              </a:rPr>
              <a:t>REST API и Docker-сборка на 3000 порту</a:t>
            </a:r>
            <a:endParaRPr sz="1300" b="0" i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51560" y="6016752"/>
            <a:ext cx="1874519" cy="150876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21240" y="-868680"/>
            <a:ext cx="2240280" cy="1920240"/>
          </a:xfrm>
          <a:prstGeom prst="ellipse">
            <a:avLst/>
          </a:prstGeom>
          <a:solidFill>
            <a:srgbClr val="FF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6016752"/>
            <a:ext cx="2331720" cy="155448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84048"/>
            <a:ext cx="1691640" cy="347472"/>
          </a:xfrm>
          <a:prstGeom prst="round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9FB"/>
                </a:solidFill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9FB"/>
                </a:solidFill>
              </a:defRPr>
            </a:pPr>
            <a:r>
              <a:t>Цель дипломного проекта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90472"/>
            <a:ext cx="2011680" cy="457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27632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2B8C4"/>
                </a:solidFill>
              </a:defRPr>
            </a:pPr>
            <a:r>
              <a:t>Цель и ожидаемый эффект от внедрения цифрового сервиса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11680"/>
            <a:ext cx="6583680" cy="2103120"/>
          </a:xfrm>
          <a:prstGeom prst="roundRect">
            <a:avLst/>
          </a:prstGeom>
          <a:solidFill>
            <a:srgbClr val="192335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011680"/>
            <a:ext cx="73152" cy="21031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121408"/>
            <a:ext cx="632764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Цель ДП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487168"/>
            <a:ext cx="6309360" cy="1517904"/>
          </a:xfrm>
          <a:prstGeom prst="rect">
            <a:avLst/>
          </a:prstGeom>
          <a:noFill/>
        </p:spPr>
        <p:txBody>
          <a:bodyPr wrap="square" anchor="t" lIns="18288" rIns="27432" tIns="9144" bIns="18288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700" b="0" i="0">
                <a:solidFill>
                  <a:srgbClr val="B2B8C4"/>
                </a:solidFill>
                <a:latin typeface="Arial"/>
              </a:rPr>
              <a:t>Разработать веб-приложение ресторана «Гастрономия», которое объединяет презентацию бренда, онлайн-бронирование, оформление заказа и административное управление контентом в едином интерфейсе.</a:t>
            </a:r>
            <a:endParaRPr sz="1700" b="0" i="0"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0080" y="4297680"/>
            <a:ext cx="6583680" cy="1325880"/>
          </a:xfrm>
          <a:prstGeom prst="roundRect">
            <a:avLst/>
          </a:prstGeom>
          <a:solidFill>
            <a:srgbClr val="192335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4297680"/>
            <a:ext cx="73152" cy="132588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4407408"/>
            <a:ext cx="632764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Ожидаемый эффект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773168"/>
            <a:ext cx="6309360" cy="740664"/>
          </a:xfrm>
          <a:prstGeom prst="rect">
            <a:avLst/>
          </a:prstGeom>
          <a:noFill/>
        </p:spPr>
        <p:txBody>
          <a:bodyPr wrap="square" anchor="t" lIns="18288" rIns="27432" tIns="9144" bIns="18288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B2B8C4"/>
                </a:solidFill>
                <a:latin typeface="Arial"/>
              </a:rPr>
              <a:t>Повышение конверсии из посетителя в заявку, сокращение ручной обработки заказов и ускорение обновления контента через админ-панель.</a:t>
            </a:r>
            <a:endParaRPr sz="1500" b="0" i="0">
              <a:latin typeface="Arial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498079" y="2011680"/>
            <a:ext cx="1234440" cy="1097280"/>
          </a:xfrm>
          <a:prstGeom prst="roundRect">
            <a:avLst/>
          </a:prstGeom>
          <a:solidFill>
            <a:srgbClr val="1F2B40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79" y="2103120"/>
            <a:ext cx="123444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2200" b="1">
                <a:solidFill>
                  <a:srgbClr val="F8F9FB"/>
                </a:solidFill>
              </a:defRPr>
            </a:pPr>
            <a:r>
              <a:t>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71231" y="2596896"/>
            <a:ext cx="1088136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B2B8C4"/>
                </a:solidFill>
                <a:latin typeface="Arial"/>
              </a:rPr>
              <a:t>позиций меню</a:t>
            </a:r>
            <a:endParaRPr sz="1000" b="0" i="0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B2B8C4"/>
                </a:solidFill>
                <a:latin typeface="Arial"/>
              </a:rPr>
              <a:t>в БД</a:t>
            </a:r>
            <a:endParaRPr sz="1000" b="0" i="0"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887968" y="2011680"/>
            <a:ext cx="1234440" cy="1097280"/>
          </a:xfrm>
          <a:prstGeom prst="roundRect">
            <a:avLst/>
          </a:prstGeom>
          <a:solidFill>
            <a:srgbClr val="1F2B40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87968" y="2103120"/>
            <a:ext cx="123444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2200" b="1">
                <a:solidFill>
                  <a:srgbClr val="F8F9FB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2596896"/>
            <a:ext cx="1088136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B2B8C4"/>
                </a:solidFill>
                <a:latin typeface="Arial"/>
              </a:rPr>
              <a:t>отзыва</a:t>
            </a:r>
            <a:endParaRPr sz="1000" b="0" i="0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B2B8C4"/>
                </a:solidFill>
                <a:latin typeface="Arial"/>
              </a:rPr>
              <a:t>в системе</a:t>
            </a:r>
            <a:endParaRPr sz="1000" b="0" i="0">
              <a:latin typeface="Arial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10277856" y="2011680"/>
            <a:ext cx="1234440" cy="1097280"/>
          </a:xfrm>
          <a:prstGeom prst="roundRect">
            <a:avLst/>
          </a:prstGeom>
          <a:solidFill>
            <a:srgbClr val="1F2B40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77856" y="2103120"/>
            <a:ext cx="123444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2200" b="1">
                <a:solidFill>
                  <a:srgbClr val="F8F9FB"/>
                </a:solidFill>
              </a:defRPr>
            </a:pPr>
            <a: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51008" y="2596896"/>
            <a:ext cx="1088136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B2B8C4"/>
                </a:solidFill>
                <a:latin typeface="Arial"/>
              </a:rPr>
              <a:t>изображений</a:t>
            </a:r>
            <a:endParaRPr sz="1000" b="0" i="0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B2B8C4"/>
                </a:solidFill>
                <a:latin typeface="Arial"/>
              </a:rPr>
              <a:t>галереи</a:t>
            </a:r>
            <a:endParaRPr sz="1000" b="0" i="0"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452360" y="3429000"/>
            <a:ext cx="3794760" cy="1938528"/>
          </a:xfrm>
          <a:prstGeom prst="roundRect">
            <a:avLst/>
          </a:prstGeom>
          <a:solidFill>
            <a:srgbClr val="192335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52360" y="3429000"/>
            <a:ext cx="73152" cy="1938528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16952" y="3538728"/>
            <a:ext cx="353872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Ключевые показатели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16952" y="3904488"/>
            <a:ext cx="3520440" cy="1353312"/>
          </a:xfrm>
          <a:prstGeom prst="rect">
            <a:avLst/>
          </a:prstGeom>
          <a:noFill/>
        </p:spPr>
        <p:txBody>
          <a:bodyPr wrap="square" anchor="t" lIns="18288" rIns="27432" tIns="9144" bIns="18288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B2B8C4"/>
                </a:solidFill>
                <a:latin typeface="Arial"/>
              </a:rPr>
              <a:t>• 5 маршрутов SPA</a:t>
            </a:r>
            <a:endParaRPr sz="15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B2B8C4"/>
                </a:solidFill>
                <a:latin typeface="Arial"/>
              </a:rPr>
              <a:t>• 2 роли пользователей</a:t>
            </a:r>
            <a:endParaRPr sz="15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B2B8C4"/>
                </a:solidFill>
                <a:latin typeface="Arial"/>
              </a:rPr>
              <a:t>• REST API для меню, отзывов, заказов и галереи</a:t>
            </a:r>
            <a:endParaRPr sz="15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B2B8C4"/>
                </a:solidFill>
                <a:latin typeface="Arial"/>
              </a:rPr>
              <a:t>• Docker-развертывание для демонстрации</a:t>
            </a:r>
            <a:endParaRPr sz="1500" b="0" i="0">
              <a:latin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02920" y="644652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2B8C4"/>
                </a:solidFill>
              </a:defRPr>
            </a:pPr>
            <a:r>
              <a:t>Дипломный проект • Ресторан «Гастрономия»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2B8C4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51560" y="6016752"/>
            <a:ext cx="1874519" cy="150876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21240" y="-868680"/>
            <a:ext cx="2240280" cy="1920240"/>
          </a:xfrm>
          <a:prstGeom prst="ellipse">
            <a:avLst/>
          </a:prstGeom>
          <a:solidFill>
            <a:srgbClr val="FF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6016752"/>
            <a:ext cx="2331720" cy="155448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84048"/>
            <a:ext cx="1691640" cy="347472"/>
          </a:xfrm>
          <a:prstGeom prst="round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9FB"/>
                </a:solidFill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9FB"/>
                </a:solidFill>
              </a:defRPr>
            </a:pPr>
            <a:r>
              <a:t>Сбор требований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90472"/>
            <a:ext cx="2011680" cy="457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27632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2B8C4"/>
                </a:solidFill>
              </a:defRPr>
            </a:pPr>
            <a:r>
              <a:t>Фрагмент интервью с заказчиком и ожидания целевой аудитории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011680"/>
            <a:ext cx="5303520" cy="3566160"/>
          </a:xfrm>
          <a:prstGeom prst="roundRect">
            <a:avLst/>
          </a:prstGeom>
          <a:solidFill>
            <a:srgbClr val="192335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011680"/>
            <a:ext cx="73152" cy="356616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121408"/>
            <a:ext cx="504748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Требования заказчика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487168"/>
            <a:ext cx="5029200" cy="2980944"/>
          </a:xfrm>
          <a:prstGeom prst="rect">
            <a:avLst/>
          </a:prstGeom>
          <a:noFill/>
        </p:spPr>
        <p:txBody>
          <a:bodyPr wrap="square" anchor="t" lIns="18288" rIns="27432" tIns="9144" bIns="18288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B2B8C4"/>
                </a:solidFill>
                <a:latin typeface="Arial"/>
              </a:rPr>
              <a:t>1. Современный визуальный сайт в фирменном стиле ресторана.</a:t>
            </a:r>
            <a:endParaRPr sz="15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B2B8C4"/>
                </a:solidFill>
                <a:latin typeface="Arial"/>
              </a:rPr>
              <a:t>2. Публичное меню с ценами, составом и фотографиями.</a:t>
            </a:r>
            <a:endParaRPr sz="15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B2B8C4"/>
                </a:solidFill>
                <a:latin typeface="Arial"/>
              </a:rPr>
              <a:t>3. Формы онлайн-заказа и бронирования стола без звонка.</a:t>
            </a:r>
            <a:endParaRPr sz="15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B2B8C4"/>
                </a:solidFill>
                <a:latin typeface="Arial"/>
              </a:rPr>
              <a:t>4. Раздел отзывов и галерея для повышения доверия.</a:t>
            </a:r>
            <a:endParaRPr sz="15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B2B8C4"/>
                </a:solidFill>
                <a:latin typeface="Arial"/>
              </a:rPr>
              <a:t>5. Админ-панель для самостоятельного обновления данных.</a:t>
            </a:r>
            <a:endParaRPr sz="1500" b="0" i="0"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17920" y="2011680"/>
            <a:ext cx="5074920" cy="3566160"/>
          </a:xfrm>
          <a:prstGeom prst="roundRect">
            <a:avLst/>
          </a:prstGeom>
          <a:solidFill>
            <a:srgbClr val="1F2B40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2011680"/>
            <a:ext cx="73152" cy="356616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2121408"/>
            <a:ext cx="481888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Ожидания целевой аудитории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487168"/>
            <a:ext cx="4800600" cy="2980944"/>
          </a:xfrm>
          <a:prstGeom prst="rect">
            <a:avLst/>
          </a:prstGeom>
          <a:noFill/>
        </p:spPr>
        <p:txBody>
          <a:bodyPr wrap="square" anchor="t" lIns="18288" rIns="27432" tIns="9144" bIns="18288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B2B8C4"/>
                </a:solidFill>
                <a:latin typeface="Arial"/>
              </a:rPr>
              <a:t>1. Быстро понять ассортимент и стоимость блюд.</a:t>
            </a:r>
            <a:endParaRPr sz="15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B2B8C4"/>
                </a:solidFill>
                <a:latin typeface="Arial"/>
              </a:rPr>
              <a:t>2. Удобно пользоваться сайтом со смартфона.</a:t>
            </a:r>
            <a:endParaRPr sz="15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B2B8C4"/>
                </a:solidFill>
                <a:latin typeface="Arial"/>
              </a:rPr>
              <a:t>3. Сразу видеть фото интерьера и блюд.</a:t>
            </a:r>
            <a:endParaRPr sz="15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B2B8C4"/>
                </a:solidFill>
                <a:latin typeface="Arial"/>
              </a:rPr>
              <a:t>4. Забронировать стол за 1–2 действия.</a:t>
            </a:r>
            <a:endParaRPr sz="15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B2B8C4"/>
                </a:solidFill>
                <a:latin typeface="Arial"/>
              </a:rPr>
              <a:t>5. Видеть актуальные отзывы и подтверждение после отправки формы.</a:t>
            </a:r>
            <a:endParaRPr sz="1500" b="0" i="0">
              <a:latin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2B8C4"/>
                </a:solidFill>
              </a:defRPr>
            </a:pPr>
            <a:r>
              <a:t>Дипломный проект • Ресторан «Гастрономия»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2B8C4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51560" y="6016752"/>
            <a:ext cx="1874519" cy="150876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21240" y="-868680"/>
            <a:ext cx="2240280" cy="1920240"/>
          </a:xfrm>
          <a:prstGeom prst="ellipse">
            <a:avLst/>
          </a:prstGeom>
          <a:solidFill>
            <a:srgbClr val="FF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6016752"/>
            <a:ext cx="2331720" cy="155448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84048"/>
            <a:ext cx="1691640" cy="347472"/>
          </a:xfrm>
          <a:prstGeom prst="round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9FB"/>
                </a:solidFill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9FB"/>
                </a:solidFill>
              </a:defRPr>
            </a:pPr>
            <a:r>
              <a:t>На основании требований формируем задачи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90472"/>
            <a:ext cx="2011680" cy="457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27632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2B8C4"/>
                </a:solidFill>
              </a:defRPr>
            </a:pPr>
            <a:r>
              <a:t>Декомпозиция целей в конкретные задачи разработки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5120640" cy="1143000"/>
          </a:xfrm>
          <a:prstGeom prst="round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1" y="2084832"/>
            <a:ext cx="640080" cy="64008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2240280"/>
            <a:ext cx="64008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rgbClr val="F8F9FB"/>
                </a:solidFill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084832"/>
            <a:ext cx="3977639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F8F9FB"/>
                </a:solidFill>
                <a:latin typeface="Arial"/>
              </a:rPr>
              <a:t>Спроектировать структуру SPA и пользовательские маршруты.</a:t>
            </a:r>
            <a:endParaRPr sz="1500" b="0" i="0"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080760" y="1920240"/>
            <a:ext cx="5120640" cy="1143000"/>
          </a:xfrm>
          <a:prstGeom prst="round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45352" y="2084832"/>
            <a:ext cx="640080" cy="64008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5352" y="2240280"/>
            <a:ext cx="64008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rgbClr val="F8F9FB"/>
                </a:solidFill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084832"/>
            <a:ext cx="3977639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F8F9FB"/>
                </a:solidFill>
                <a:latin typeface="Arial"/>
              </a:rPr>
              <a:t>Разработать REST API для меню, отзывов, галереи, заказов и бронирования.</a:t>
            </a:r>
            <a:endParaRPr sz="1500" b="0" i="0">
              <a:latin typeface="Arial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40080" y="3218688"/>
            <a:ext cx="5120640" cy="1143000"/>
          </a:xfrm>
          <a:prstGeom prst="round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1" y="3383280"/>
            <a:ext cx="640080" cy="64008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1" y="3538728"/>
            <a:ext cx="64008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rgbClr val="F8F9FB"/>
                </a:solidFill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383280"/>
            <a:ext cx="3977639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F8F9FB"/>
                </a:solidFill>
                <a:latin typeface="Arial"/>
              </a:rPr>
              <a:t>Реализовать админ-панель с JWT-аутентификацией и разграничением прав.</a:t>
            </a:r>
            <a:endParaRPr sz="1500" b="0" i="0">
              <a:latin typeface="Arial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080760" y="3218688"/>
            <a:ext cx="5120640" cy="1143000"/>
          </a:xfrm>
          <a:prstGeom prst="round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45352" y="3383280"/>
            <a:ext cx="640080" cy="64008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45352" y="3538728"/>
            <a:ext cx="64008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rgbClr val="F8F9FB"/>
                </a:solidFill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3383280"/>
            <a:ext cx="3977639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F8F9FB"/>
                </a:solidFill>
                <a:latin typeface="Arial"/>
              </a:rPr>
              <a:t>Спроектировать БД SQLite и инициализировать ее стартовыми данными.</a:t>
            </a:r>
            <a:endParaRPr sz="1500" b="0" i="0">
              <a:latin typeface="Arial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40080" y="4517136"/>
            <a:ext cx="5120640" cy="1143000"/>
          </a:xfrm>
          <a:prstGeom prst="round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1" y="4681727"/>
            <a:ext cx="640080" cy="64008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1" y="4837175"/>
            <a:ext cx="64008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rgbClr val="F8F9FB"/>
                </a:solidFill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4681727"/>
            <a:ext cx="3977639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F8F9FB"/>
                </a:solidFill>
                <a:latin typeface="Arial"/>
              </a:rPr>
              <a:t>Провести тестирование интерфейса, API и критических пользовательских сценариев.</a:t>
            </a:r>
            <a:endParaRPr sz="1500" b="0" i="0">
              <a:latin typeface="Arial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080760" y="4517136"/>
            <a:ext cx="5120640" cy="1143000"/>
          </a:xfrm>
          <a:prstGeom prst="round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245352" y="4681727"/>
            <a:ext cx="640080" cy="64008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45352" y="4837175"/>
            <a:ext cx="64008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rgbClr val="F8F9FB"/>
                </a:solidFill>
              </a:defRPr>
            </a:pPr>
            <a: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4681727"/>
            <a:ext cx="3977639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F8F9FB"/>
                </a:solidFill>
                <a:latin typeface="Arial"/>
              </a:rPr>
              <a:t>Подготовить контейнеризацию проекта и удобный демонстрационный запуск.</a:t>
            </a:r>
            <a:endParaRPr sz="1500" b="0" i="0">
              <a:latin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02920" y="644652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2B8C4"/>
                </a:solidFill>
              </a:defRPr>
            </a:pPr>
            <a:r>
              <a:t>Дипломный проект • Ресторан «Гастрономия»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2B8C4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51560" y="6016752"/>
            <a:ext cx="1874519" cy="150876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21240" y="-868680"/>
            <a:ext cx="2240280" cy="1920240"/>
          </a:xfrm>
          <a:prstGeom prst="ellipse">
            <a:avLst/>
          </a:prstGeom>
          <a:solidFill>
            <a:srgbClr val="FF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6016752"/>
            <a:ext cx="2331720" cy="155448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84048"/>
            <a:ext cx="1691640" cy="347472"/>
          </a:xfrm>
          <a:prstGeom prst="round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9FB"/>
                </a:solidFill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9FB"/>
                </a:solidFill>
              </a:defRPr>
            </a:pPr>
            <a:r>
              <a:t>Диаграмма связей (mindmap)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90472"/>
            <a:ext cx="2011680" cy="457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27632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2B8C4"/>
                </a:solidFill>
              </a:defRPr>
            </a:pPr>
            <a:r>
              <a:t>Основные подсистемы и направления разработки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2971800"/>
            <a:ext cx="4206240" cy="960120"/>
          </a:xfrm>
          <a:prstGeom prst="round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77640" y="3118104"/>
            <a:ext cx="393192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8F9FB"/>
                </a:solidFill>
                <a:latin typeface="Arial"/>
              </a:rPr>
              <a:t>Веб-приложение ресторана</a:t>
            </a:r>
            <a:endParaRPr sz="2000" b="1" i="0">
              <a:latin typeface="Arial"/>
            </a:endParaRP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8F9FB"/>
                </a:solidFill>
                <a:latin typeface="Arial"/>
              </a:rPr>
              <a:t>«Гастрономия»</a:t>
            </a:r>
            <a:endParaRPr sz="2000" b="1" i="0">
              <a:latin typeface="Arial"/>
            </a:endParaRPr>
          </a:p>
        </p:txBody>
      </p:sp>
      <p:cxnSp>
        <p:nvCxnSpPr>
          <p:cNvPr id="11" name="Connector 10"/>
          <p:cNvCxnSpPr/>
          <p:nvPr/>
        </p:nvCxnSpPr>
        <p:spPr>
          <a:xfrm flipH="1" flipV="1">
            <a:off x="3547872" y="2825496.0"/>
            <a:ext cx="292608" cy="626364.0"/>
          </a:xfrm>
          <a:prstGeom prst="line">
            <a:avLst/>
          </a:prstGeom>
          <a:ln w="2540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3547872" y="3451860.0"/>
            <a:ext cx="292608" cy="1568196.0"/>
          </a:xfrm>
          <a:prstGeom prst="line">
            <a:avLst/>
          </a:prstGeom>
          <a:ln w="2540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5486400.0" y="2971800"/>
            <a:ext cx="457200.0" cy="0"/>
          </a:xfrm>
          <a:prstGeom prst="line">
            <a:avLst/>
          </a:prstGeom>
          <a:ln w="2540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8046720" y="2825496.0"/>
            <a:ext cx="384048" cy="626364.0"/>
          </a:xfrm>
          <a:prstGeom prst="line">
            <a:avLst/>
          </a:prstGeom>
          <a:ln w="2540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046720" y="3451860.0"/>
            <a:ext cx="384048" cy="1568196.0"/>
          </a:xfrm>
          <a:prstGeom prst="line">
            <a:avLst/>
          </a:prstGeom>
          <a:ln w="2540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5486400.0" y="3931920"/>
            <a:ext cx="457200.0" cy="1417320"/>
          </a:xfrm>
          <a:prstGeom prst="line">
            <a:avLst/>
          </a:prstGeom>
          <a:ln w="2540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13232" y="2331720"/>
            <a:ext cx="2834640" cy="987552"/>
          </a:xfrm>
          <a:prstGeom prst="roundRect">
            <a:avLst/>
          </a:prstGeom>
          <a:solidFill>
            <a:srgbClr val="192335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13232" y="2331720"/>
            <a:ext cx="73152" cy="98755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2441448"/>
            <a:ext cx="257860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Frontend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2807208"/>
            <a:ext cx="2560320" cy="402336"/>
          </a:xfrm>
          <a:prstGeom prst="rect">
            <a:avLst/>
          </a:prstGeom>
          <a:noFill/>
        </p:spPr>
        <p:txBody>
          <a:bodyPr wrap="square" anchor="t" lIns="18288" rIns="27432" tIns="9144" bIns="18288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B2B8C4"/>
                </a:solidFill>
                <a:latin typeface="Arial"/>
              </a:rPr>
              <a:t>Vue 3</a:t>
            </a:r>
            <a:endParaRPr sz="13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B2B8C4"/>
                </a:solidFill>
                <a:latin typeface="Arial"/>
              </a:rPr>
              <a:t>Vue Router</a:t>
            </a:r>
            <a:endParaRPr sz="13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B2B8C4"/>
                </a:solidFill>
                <a:latin typeface="Arial"/>
              </a:rPr>
              <a:t>Vuex / Axios</a:t>
            </a:r>
            <a:endParaRPr sz="1300" b="0" i="0">
              <a:latin typeface="Arial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13232" y="4526280"/>
            <a:ext cx="2834640" cy="987552"/>
          </a:xfrm>
          <a:prstGeom prst="roundRect">
            <a:avLst/>
          </a:prstGeom>
          <a:solidFill>
            <a:srgbClr val="192335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13232" y="4526280"/>
            <a:ext cx="73152" cy="98755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" y="4636008"/>
            <a:ext cx="257860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Коммерция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5001768"/>
            <a:ext cx="2560320" cy="402336"/>
          </a:xfrm>
          <a:prstGeom prst="rect">
            <a:avLst/>
          </a:prstGeom>
          <a:noFill/>
        </p:spPr>
        <p:txBody>
          <a:bodyPr wrap="square" anchor="t" lIns="18288" rIns="27432" tIns="9144" bIns="18288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B2B8C4"/>
                </a:solidFill>
                <a:latin typeface="Arial"/>
              </a:rPr>
              <a:t>Корзина</a:t>
            </a:r>
            <a:endParaRPr sz="13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B2B8C4"/>
                </a:solidFill>
                <a:latin typeface="Arial"/>
              </a:rPr>
              <a:t>Заказ</a:t>
            </a:r>
            <a:endParaRPr sz="13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B2B8C4"/>
                </a:solidFill>
                <a:latin typeface="Arial"/>
              </a:rPr>
              <a:t>Бронирование</a:t>
            </a:r>
            <a:endParaRPr sz="1300" b="0" i="0">
              <a:latin typeface="Arial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069080" y="2057400"/>
            <a:ext cx="2834640" cy="914400"/>
          </a:xfrm>
          <a:prstGeom prst="roundRect">
            <a:avLst/>
          </a:prstGeom>
          <a:solidFill>
            <a:srgbClr val="192335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69080" y="2057400"/>
            <a:ext cx="73152" cy="9144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33672" y="2167128"/>
            <a:ext cx="257860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Контент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33672" y="2532888"/>
            <a:ext cx="2560320" cy="329184"/>
          </a:xfrm>
          <a:prstGeom prst="rect">
            <a:avLst/>
          </a:prstGeom>
          <a:noFill/>
        </p:spPr>
        <p:txBody>
          <a:bodyPr wrap="square" anchor="t" lIns="18288" rIns="27432" tIns="9144" bIns="18288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B2B8C4"/>
                </a:solidFill>
                <a:latin typeface="Arial"/>
              </a:rPr>
              <a:t>Меню</a:t>
            </a:r>
            <a:endParaRPr sz="13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B2B8C4"/>
                </a:solidFill>
                <a:latin typeface="Arial"/>
              </a:rPr>
              <a:t>Отзывы</a:t>
            </a:r>
            <a:endParaRPr sz="13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B2B8C4"/>
                </a:solidFill>
                <a:latin typeface="Arial"/>
              </a:rPr>
              <a:t>Галерея</a:t>
            </a:r>
            <a:endParaRPr sz="1300" b="0" i="0">
              <a:latin typeface="Arial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430768" y="2331720"/>
            <a:ext cx="2788920" cy="987552"/>
          </a:xfrm>
          <a:prstGeom prst="roundRect">
            <a:avLst/>
          </a:prstGeom>
          <a:solidFill>
            <a:srgbClr val="192335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30768" y="2331720"/>
            <a:ext cx="73152" cy="98755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0" y="2441448"/>
            <a:ext cx="253288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Администрирование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2807208"/>
            <a:ext cx="2514600" cy="402336"/>
          </a:xfrm>
          <a:prstGeom prst="rect">
            <a:avLst/>
          </a:prstGeom>
          <a:noFill/>
        </p:spPr>
        <p:txBody>
          <a:bodyPr wrap="square" anchor="t" lIns="18288" rIns="27432" tIns="9144" bIns="18288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B2B8C4"/>
                </a:solidFill>
                <a:latin typeface="Arial"/>
              </a:rPr>
              <a:t>JWT-вход</a:t>
            </a:r>
            <a:endParaRPr sz="13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B2B8C4"/>
                </a:solidFill>
                <a:latin typeface="Arial"/>
              </a:rPr>
              <a:t>CRUD</a:t>
            </a:r>
            <a:endParaRPr sz="13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B2B8C4"/>
                </a:solidFill>
                <a:latin typeface="Arial"/>
              </a:rPr>
              <a:t>Статусы заказов</a:t>
            </a:r>
            <a:endParaRPr sz="1300" b="0" i="0">
              <a:latin typeface="Arial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8430768" y="4526280"/>
            <a:ext cx="2788920" cy="987552"/>
          </a:xfrm>
          <a:prstGeom prst="roundRect">
            <a:avLst/>
          </a:prstGeom>
          <a:solidFill>
            <a:srgbClr val="192335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430768" y="4526280"/>
            <a:ext cx="73152" cy="98755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95360" y="4636008"/>
            <a:ext cx="253288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Backend / Data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5001768"/>
            <a:ext cx="2514600" cy="402336"/>
          </a:xfrm>
          <a:prstGeom prst="rect">
            <a:avLst/>
          </a:prstGeom>
          <a:noFill/>
        </p:spPr>
        <p:txBody>
          <a:bodyPr wrap="square" anchor="t" lIns="18288" rIns="27432" tIns="9144" bIns="18288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B2B8C4"/>
                </a:solidFill>
                <a:latin typeface="Arial"/>
              </a:rPr>
              <a:t>FastAPI</a:t>
            </a:r>
            <a:endParaRPr sz="13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B2B8C4"/>
                </a:solidFill>
                <a:latin typeface="Arial"/>
              </a:rPr>
              <a:t>SQLAlchemy</a:t>
            </a:r>
            <a:endParaRPr sz="13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B2B8C4"/>
                </a:solidFill>
                <a:latin typeface="Arial"/>
              </a:rPr>
              <a:t>SQLite</a:t>
            </a:r>
            <a:endParaRPr sz="1300" b="0" i="0">
              <a:latin typeface="Arial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4069080" y="5349240"/>
            <a:ext cx="2834640" cy="914400"/>
          </a:xfrm>
          <a:prstGeom prst="roundRect">
            <a:avLst/>
          </a:prstGeom>
          <a:solidFill>
            <a:srgbClr val="192335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069080" y="5349240"/>
            <a:ext cx="73152" cy="9144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233672" y="5458968"/>
            <a:ext cx="257860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DevOps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33672" y="5824728"/>
            <a:ext cx="2560320" cy="329184"/>
          </a:xfrm>
          <a:prstGeom prst="rect">
            <a:avLst/>
          </a:prstGeom>
          <a:noFill/>
        </p:spPr>
        <p:txBody>
          <a:bodyPr wrap="square" anchor="t" lIns="18288" rIns="27432" tIns="9144" bIns="18288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0" i="0">
                <a:solidFill>
                  <a:srgbClr val="B2B8C4"/>
                </a:solidFill>
                <a:latin typeface="Arial"/>
              </a:rPr>
              <a:t>Docker Compose</a:t>
            </a:r>
            <a:endParaRPr sz="12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0" i="0">
                <a:solidFill>
                  <a:srgbClr val="B2B8C4"/>
                </a:solidFill>
                <a:latin typeface="Arial"/>
              </a:rPr>
              <a:t>Nginx</a:t>
            </a:r>
            <a:endParaRPr sz="12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0" i="0">
                <a:solidFill>
                  <a:srgbClr val="B2B8C4"/>
                </a:solidFill>
                <a:latin typeface="Arial"/>
              </a:rPr>
              <a:t>Развертывание</a:t>
            </a:r>
            <a:endParaRPr sz="1200" b="0" i="0">
              <a:latin typeface="Arial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02920" y="644652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2B8C4"/>
                </a:solidFill>
              </a:defRPr>
            </a:pPr>
            <a:r>
              <a:t>Дипломный проект • Ресторан «Гастрономия»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2B8C4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51560" y="6016752"/>
            <a:ext cx="1874519" cy="150876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21240" y="-868680"/>
            <a:ext cx="2240280" cy="1920240"/>
          </a:xfrm>
          <a:prstGeom prst="ellipse">
            <a:avLst/>
          </a:prstGeom>
          <a:solidFill>
            <a:srgbClr val="FF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6016752"/>
            <a:ext cx="2331720" cy="155448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84048"/>
            <a:ext cx="1691640" cy="347472"/>
          </a:xfrm>
          <a:prstGeom prst="round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9FB"/>
                </a:solidFill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9FB"/>
                </a:solidFill>
              </a:defRPr>
            </a:pPr>
            <a:r>
              <a:t>Сценарии использования проектируемого ПП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90472"/>
            <a:ext cx="2011680" cy="457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27632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2B8C4"/>
                </a:solidFill>
              </a:defRPr>
            </a:pPr>
            <a:r>
              <a:t>Основные use-case для гостя и администратора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874519"/>
            <a:ext cx="7498079" cy="4251960"/>
          </a:xfrm>
          <a:prstGeom prst="round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938528"/>
            <a:ext cx="29260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Система «Гастрономия»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2816352"/>
            <a:ext cx="1664208" cy="1188720"/>
          </a:xfrm>
          <a:prstGeom prst="roundRect">
            <a:avLst/>
          </a:prstGeom>
          <a:solidFill>
            <a:srgbClr val="192335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" y="2816352"/>
            <a:ext cx="73152" cy="11887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2926080"/>
            <a:ext cx="1408176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Гость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" y="3255264"/>
            <a:ext cx="1389888" cy="676657"/>
          </a:xfrm>
          <a:prstGeom prst="rect">
            <a:avLst/>
          </a:prstGeom>
          <a:noFill/>
        </p:spPr>
        <p:txBody>
          <a:bodyPr wrap="square" anchor="t" lIns="18288" rIns="27432" tIns="9144" bIns="18288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 b="0" i="0">
                <a:solidFill>
                  <a:srgbClr val="B2B8C4"/>
                </a:solidFill>
                <a:latin typeface="Arial"/>
              </a:rPr>
              <a:t>Публичный</a:t>
            </a:r>
            <a:endParaRPr sz="11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 b="0" i="0">
                <a:solidFill>
                  <a:srgbClr val="B2B8C4"/>
                </a:solidFill>
                <a:latin typeface="Arial"/>
              </a:rPr>
              <a:t>пользователь</a:t>
            </a:r>
            <a:endParaRPr sz="1100" b="0" i="0">
              <a:latin typeface="Arial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857232" y="2816352"/>
            <a:ext cx="1773936" cy="1188720"/>
          </a:xfrm>
          <a:prstGeom prst="roundRect">
            <a:avLst/>
          </a:prstGeom>
          <a:solidFill>
            <a:srgbClr val="1F2B40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857232" y="2816352"/>
            <a:ext cx="73152" cy="11887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21824" y="2926080"/>
            <a:ext cx="151790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Админ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21824" y="3255264"/>
            <a:ext cx="1499616" cy="676657"/>
          </a:xfrm>
          <a:prstGeom prst="rect">
            <a:avLst/>
          </a:prstGeom>
          <a:noFill/>
        </p:spPr>
        <p:txBody>
          <a:bodyPr wrap="square" anchor="t" lIns="18288" rIns="27432" tIns="9144" bIns="18288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 b="0" i="0">
                <a:solidFill>
                  <a:srgbClr val="B2B8C4"/>
                </a:solidFill>
                <a:latin typeface="Arial"/>
              </a:rPr>
              <a:t>Авторизованный</a:t>
            </a:r>
            <a:endParaRPr sz="11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00" b="0" i="0">
                <a:solidFill>
                  <a:srgbClr val="B2B8C4"/>
                </a:solidFill>
                <a:latin typeface="Arial"/>
              </a:rPr>
              <a:t>сотрудник</a:t>
            </a:r>
            <a:endParaRPr sz="1100" b="0" i="0"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788920" y="2212848"/>
            <a:ext cx="233172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B2B8C4"/>
                </a:solidFill>
              </a:defRPr>
            </a:pPr>
            <a:r>
              <a:t>Публичные сценарии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212848"/>
            <a:ext cx="251460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B2B8C4"/>
                </a:solidFill>
              </a:defRPr>
            </a:pPr>
            <a:r>
              <a:t>Административные сценарии</a:t>
            </a:r>
          </a:p>
        </p:txBody>
      </p:sp>
      <p:sp>
        <p:nvSpPr>
          <p:cNvPr id="21" name="Oval 20"/>
          <p:cNvSpPr/>
          <p:nvPr/>
        </p:nvSpPr>
        <p:spPr>
          <a:xfrm>
            <a:off x="2743200" y="2514600"/>
            <a:ext cx="2468880" cy="566928"/>
          </a:xfrm>
          <a:prstGeom prst="ellipse">
            <a:avLst/>
          </a:prstGeom>
          <a:solidFill>
            <a:srgbClr val="1F2B40"/>
          </a:solidFill>
          <a:ln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52928" y="2670048"/>
            <a:ext cx="2249424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F8F9FB"/>
                </a:solidFill>
                <a:latin typeface="Arial"/>
              </a:rPr>
              <a:t>Просмотреть меню</a:t>
            </a:r>
            <a:endParaRPr sz="1100" b="0" i="0">
              <a:latin typeface="Arial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2743200" y="3364992"/>
            <a:ext cx="2468880" cy="566928"/>
          </a:xfrm>
          <a:prstGeom prst="ellipse">
            <a:avLst/>
          </a:prstGeom>
          <a:solidFill>
            <a:srgbClr val="1F2B40"/>
          </a:solidFill>
          <a:ln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52928" y="3520440"/>
            <a:ext cx="2249424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F8F9FB"/>
                </a:solidFill>
                <a:latin typeface="Arial"/>
              </a:rPr>
              <a:t>Оставить отзыв</a:t>
            </a:r>
            <a:endParaRPr sz="1100" b="0" i="0">
              <a:latin typeface="Arial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2743200" y="4215384"/>
            <a:ext cx="2468880" cy="566928"/>
          </a:xfrm>
          <a:prstGeom prst="ellipse">
            <a:avLst/>
          </a:prstGeom>
          <a:solidFill>
            <a:srgbClr val="1F2B40"/>
          </a:solidFill>
          <a:ln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52928" y="4370832"/>
            <a:ext cx="2249424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F8F9FB"/>
                </a:solidFill>
                <a:latin typeface="Arial"/>
              </a:rPr>
              <a:t>Оформить заказ</a:t>
            </a:r>
            <a:endParaRPr sz="1100" b="0" i="0">
              <a:latin typeface="Arial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2743200" y="5065776"/>
            <a:ext cx="2468880" cy="566928"/>
          </a:xfrm>
          <a:prstGeom prst="ellipse">
            <a:avLst/>
          </a:prstGeom>
          <a:solidFill>
            <a:srgbClr val="1F2B40"/>
          </a:solidFill>
          <a:ln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52928" y="5221224"/>
            <a:ext cx="2249424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F8F9FB"/>
                </a:solidFill>
                <a:latin typeface="Arial"/>
              </a:rPr>
              <a:t>Забронировать стол</a:t>
            </a:r>
            <a:endParaRPr sz="1100" b="0" i="0">
              <a:latin typeface="Arial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6400800" y="2514600"/>
            <a:ext cx="2468880" cy="566928"/>
          </a:xfrm>
          <a:prstGeom prst="ellipse">
            <a:avLst/>
          </a:prstGeom>
          <a:solidFill>
            <a:srgbClr val="1F2B40"/>
          </a:solidFill>
          <a:ln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0528" y="2670048"/>
            <a:ext cx="2249424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F8F9FB"/>
                </a:solidFill>
                <a:latin typeface="Arial"/>
              </a:rPr>
              <a:t>Авторизоваться</a:t>
            </a:r>
            <a:endParaRPr sz="1100" b="0" i="0">
              <a:latin typeface="Arial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6400800" y="3364992"/>
            <a:ext cx="2468880" cy="566928"/>
          </a:xfrm>
          <a:prstGeom prst="ellipse">
            <a:avLst/>
          </a:prstGeom>
          <a:solidFill>
            <a:srgbClr val="1F2B40"/>
          </a:solidFill>
          <a:ln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10528" y="3520440"/>
            <a:ext cx="2249424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F8F9FB"/>
                </a:solidFill>
                <a:latin typeface="Arial"/>
              </a:rPr>
              <a:t>Управлять меню</a:t>
            </a:r>
            <a:endParaRPr sz="1100" b="0" i="0">
              <a:latin typeface="Arial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6400800" y="4215384"/>
            <a:ext cx="2468880" cy="566928"/>
          </a:xfrm>
          <a:prstGeom prst="ellipse">
            <a:avLst/>
          </a:prstGeom>
          <a:solidFill>
            <a:srgbClr val="1F2B40"/>
          </a:solidFill>
          <a:ln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10528" y="4370832"/>
            <a:ext cx="2249424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F8F9FB"/>
                </a:solidFill>
                <a:latin typeface="Arial"/>
              </a:rPr>
              <a:t>Управлять отзывами</a:t>
            </a:r>
            <a:endParaRPr sz="1100" b="0" i="0">
              <a:latin typeface="Arial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6400800" y="5065776"/>
            <a:ext cx="2468880" cy="566928"/>
          </a:xfrm>
          <a:prstGeom prst="ellipse">
            <a:avLst/>
          </a:prstGeom>
          <a:solidFill>
            <a:srgbClr val="1F2B40"/>
          </a:solidFill>
          <a:ln>
            <a:solidFill>
              <a:srgbClr val="FF7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0528" y="5221224"/>
            <a:ext cx="2249424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F8F9FB"/>
                </a:solidFill>
                <a:latin typeface="Arial"/>
              </a:rPr>
              <a:t>Управлять заказами</a:t>
            </a:r>
            <a:endParaRPr sz="1100" b="0" i="0">
              <a:latin typeface="Arial"/>
            </a:endParaRPr>
          </a:p>
        </p:txBody>
      </p:sp>
      <p:cxnSp>
        <p:nvCxnSpPr>
          <p:cNvPr id="37" name="Connector 36"/>
          <p:cNvCxnSpPr/>
          <p:nvPr/>
        </p:nvCxnSpPr>
        <p:spPr>
          <a:xfrm flipV="1">
            <a:off x="2103120" y="2798064"/>
            <a:ext cx="640080" cy="612648"/>
          </a:xfrm>
          <a:prstGeom prst="line">
            <a:avLst/>
          </a:prstGeom>
          <a:ln w="2540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103120" y="3410712"/>
            <a:ext cx="640080" cy="237744"/>
          </a:xfrm>
          <a:prstGeom prst="line">
            <a:avLst/>
          </a:prstGeom>
          <a:ln w="2540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103120" y="3410712"/>
            <a:ext cx="640080" cy="1088136"/>
          </a:xfrm>
          <a:prstGeom prst="line">
            <a:avLst/>
          </a:prstGeom>
          <a:ln w="2540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103120" y="3410712"/>
            <a:ext cx="640080" cy="1938528"/>
          </a:xfrm>
          <a:prstGeom prst="line">
            <a:avLst/>
          </a:prstGeom>
          <a:ln w="2540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 flipV="1">
            <a:off x="8869680" y="2798064"/>
            <a:ext cx="987552" cy="612648"/>
          </a:xfrm>
          <a:prstGeom prst="line">
            <a:avLst/>
          </a:prstGeom>
          <a:ln w="2540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8869680" y="3410712"/>
            <a:ext cx="987552" cy="237744"/>
          </a:xfrm>
          <a:prstGeom prst="line">
            <a:avLst/>
          </a:prstGeom>
          <a:ln w="2540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H="1">
            <a:off x="8869680" y="3410712"/>
            <a:ext cx="987552" cy="1088136"/>
          </a:xfrm>
          <a:prstGeom prst="line">
            <a:avLst/>
          </a:prstGeom>
          <a:ln w="2540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8869680" y="3410712"/>
            <a:ext cx="987552" cy="1938528"/>
          </a:xfrm>
          <a:prstGeom prst="line">
            <a:avLst/>
          </a:prstGeom>
          <a:ln w="2540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02920" y="644652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2B8C4"/>
                </a:solidFill>
              </a:defRPr>
            </a:pPr>
            <a:r>
              <a:t>Дипломный проект • Ресторан «Гастрономия»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2B8C4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51560" y="6016752"/>
            <a:ext cx="1874519" cy="150876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21240" y="-868680"/>
            <a:ext cx="2240280" cy="1920240"/>
          </a:xfrm>
          <a:prstGeom prst="ellipse">
            <a:avLst/>
          </a:prstGeom>
          <a:solidFill>
            <a:srgbClr val="FF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6016752"/>
            <a:ext cx="2331720" cy="155448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84048"/>
            <a:ext cx="1691640" cy="347472"/>
          </a:xfrm>
          <a:prstGeom prst="round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9FB"/>
                </a:solidFill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9FB"/>
                </a:solidFill>
              </a:defRPr>
            </a:pPr>
            <a:r>
              <a:t>Прототипы / макеты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90472"/>
            <a:ext cx="2011680" cy="457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27632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2B8C4"/>
                </a:solidFill>
              </a:defRPr>
            </a:pPr>
            <a:r>
              <a:t>Реальные экраны реализованного интерфейса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920240"/>
            <a:ext cx="3657600" cy="3383280"/>
          </a:xfrm>
          <a:prstGeom prst="round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home_slide7_1228x800_r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993392"/>
            <a:ext cx="3511296" cy="2286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4407408"/>
            <a:ext cx="338328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rgbClr val="F8F9FB"/>
                </a:solidFill>
              </a:defRPr>
            </a:pPr>
            <a:r>
              <a:t>Главная страница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4663440"/>
            <a:ext cx="333756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презентация ресторана, CTA и блоки контента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43983" y="1920240"/>
            <a:ext cx="3657600" cy="3383280"/>
          </a:xfrm>
          <a:prstGeom prst="round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menu_slide7_1228x800_r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136" y="1993392"/>
            <a:ext cx="3511296" cy="2286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53712" y="4407408"/>
            <a:ext cx="338328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rgbClr val="F8F9FB"/>
                </a:solidFill>
              </a:defRPr>
            </a:pPr>
            <a:r>
              <a:t>Каталог меню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4663440"/>
            <a:ext cx="333756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фильтрация категорий и добавление в корзину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66175" y="1920240"/>
            <a:ext cx="3657600" cy="3383280"/>
          </a:xfrm>
          <a:prstGeom prst="round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admin_slide7_1228x800_r4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9327" y="1993392"/>
            <a:ext cx="3511296" cy="2286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75903" y="4407408"/>
            <a:ext cx="338328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rgbClr val="F8F9FB"/>
                </a:solidFill>
              </a:defRPr>
            </a:pPr>
            <a:r>
              <a:t>Админ-панель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4663440"/>
            <a:ext cx="333756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точка входа для управления контентом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4652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2B8C4"/>
                </a:solidFill>
              </a:defRPr>
            </a:pPr>
            <a:r>
              <a:t>Дипломный проект • Ресторан «Гастрономия»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2B8C4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51560" y="6016752"/>
            <a:ext cx="1874519" cy="150876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21240" y="-868680"/>
            <a:ext cx="2240280" cy="1920240"/>
          </a:xfrm>
          <a:prstGeom prst="ellipse">
            <a:avLst/>
          </a:prstGeom>
          <a:solidFill>
            <a:srgbClr val="FF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6016752"/>
            <a:ext cx="2331720" cy="155448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84048"/>
            <a:ext cx="1691640" cy="347472"/>
          </a:xfrm>
          <a:prstGeom prst="round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9FB"/>
                </a:solidFill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9FB"/>
                </a:solidFill>
              </a:defRPr>
            </a:pPr>
            <a:r>
              <a:t>Архитектура ПП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90472"/>
            <a:ext cx="2011680" cy="457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27632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2B8C4"/>
                </a:solidFill>
              </a:defRPr>
            </a:pPr>
            <a:r>
              <a:t>Логическая схема развертывания и взаимодействия компонентов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40280"/>
            <a:ext cx="2148840" cy="1664208"/>
          </a:xfrm>
          <a:prstGeom prst="roundRect">
            <a:avLst/>
          </a:prstGeom>
          <a:solidFill>
            <a:srgbClr val="192335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2240280"/>
            <a:ext cx="73152" cy="1664208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350008"/>
            <a:ext cx="189280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Клиентский слой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715768"/>
            <a:ext cx="1874520" cy="1078992"/>
          </a:xfrm>
          <a:prstGeom prst="rect">
            <a:avLst/>
          </a:prstGeom>
          <a:noFill/>
        </p:spPr>
        <p:txBody>
          <a:bodyPr wrap="square" anchor="t" lIns="18288" rIns="27432" tIns="9144" bIns="18288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00" b="0" i="0">
                <a:solidFill>
                  <a:srgbClr val="B2B8C4"/>
                </a:solidFill>
                <a:latin typeface="Arial"/>
              </a:rPr>
              <a:t>Браузер</a:t>
            </a:r>
            <a:endParaRPr sz="14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00" b="0" i="0">
                <a:solidFill>
                  <a:srgbClr val="B2B8C4"/>
                </a:solidFill>
                <a:latin typeface="Arial"/>
              </a:rPr>
              <a:t>Vue 3 SPA</a:t>
            </a:r>
            <a:endParaRPr sz="14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00" b="0" i="0">
                <a:solidFill>
                  <a:srgbClr val="B2B8C4"/>
                </a:solidFill>
                <a:latin typeface="Arial"/>
              </a:rPr>
              <a:t>Vue Router / Vuex</a:t>
            </a:r>
            <a:endParaRPr sz="1400" b="0" i="0"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063240" y="2240280"/>
            <a:ext cx="2240280" cy="1664208"/>
          </a:xfrm>
          <a:prstGeom prst="roundRect">
            <a:avLst/>
          </a:prstGeom>
          <a:solidFill>
            <a:srgbClr val="192335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63240" y="2240280"/>
            <a:ext cx="73152" cy="1664208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27832" y="2350008"/>
            <a:ext cx="198424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Web-слой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27832" y="2715768"/>
            <a:ext cx="1965960" cy="1078992"/>
          </a:xfrm>
          <a:prstGeom prst="rect">
            <a:avLst/>
          </a:prstGeom>
          <a:noFill/>
        </p:spPr>
        <p:txBody>
          <a:bodyPr wrap="square" anchor="t" lIns="18288" rIns="27432" tIns="9144" bIns="18288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00" b="0" i="0">
                <a:solidFill>
                  <a:srgbClr val="B2B8C4"/>
                </a:solidFill>
                <a:latin typeface="Arial"/>
              </a:rPr>
              <a:t>Nginx</a:t>
            </a:r>
            <a:endParaRPr sz="14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00" b="0" i="0">
                <a:solidFill>
                  <a:srgbClr val="B2B8C4"/>
                </a:solidFill>
                <a:latin typeface="Arial"/>
              </a:rPr>
              <a:t>статический frontend</a:t>
            </a:r>
            <a:endParaRPr sz="14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00" b="0" i="0">
                <a:solidFill>
                  <a:srgbClr val="B2B8C4"/>
                </a:solidFill>
                <a:latin typeface="Arial"/>
              </a:rPr>
              <a:t>прокси /api и /images</a:t>
            </a:r>
            <a:endParaRPr sz="1400" b="0" i="0">
              <a:latin typeface="Arial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577840" y="2240280"/>
            <a:ext cx="2240280" cy="1664208"/>
          </a:xfrm>
          <a:prstGeom prst="roundRect">
            <a:avLst/>
          </a:prstGeom>
          <a:solidFill>
            <a:srgbClr val="192335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77840" y="2240280"/>
            <a:ext cx="73152" cy="1664208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42432" y="2350008"/>
            <a:ext cx="198424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Сервер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42432" y="2715768"/>
            <a:ext cx="1965960" cy="1078992"/>
          </a:xfrm>
          <a:prstGeom prst="rect">
            <a:avLst/>
          </a:prstGeom>
          <a:noFill/>
        </p:spPr>
        <p:txBody>
          <a:bodyPr wrap="square" anchor="t" lIns="18288" rIns="27432" tIns="9144" bIns="18288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00" b="0" i="0">
                <a:solidFill>
                  <a:srgbClr val="B2B8C4"/>
                </a:solidFill>
                <a:latin typeface="Arial"/>
              </a:rPr>
              <a:t>FastAPI</a:t>
            </a:r>
            <a:endParaRPr sz="14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00" b="0" i="0">
                <a:solidFill>
                  <a:srgbClr val="B2B8C4"/>
                </a:solidFill>
                <a:latin typeface="Arial"/>
              </a:rPr>
              <a:t>REST API</a:t>
            </a:r>
            <a:endParaRPr sz="14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00" b="0" i="0">
                <a:solidFill>
                  <a:srgbClr val="B2B8C4"/>
                </a:solidFill>
                <a:latin typeface="Arial"/>
              </a:rPr>
              <a:t>JWT, CORS, upload</a:t>
            </a:r>
            <a:endParaRPr sz="1400" b="0" i="0">
              <a:latin typeface="Arial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138160" y="2240280"/>
            <a:ext cx="2834640" cy="1664208"/>
          </a:xfrm>
          <a:prstGeom prst="roundRect">
            <a:avLst/>
          </a:prstGeom>
          <a:solidFill>
            <a:srgbClr val="192335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2240280"/>
            <a:ext cx="73152" cy="1664208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2752" y="2350008"/>
            <a:ext cx="257860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Хранение данных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2715768"/>
            <a:ext cx="2560320" cy="1078992"/>
          </a:xfrm>
          <a:prstGeom prst="rect">
            <a:avLst/>
          </a:prstGeom>
          <a:noFill/>
        </p:spPr>
        <p:txBody>
          <a:bodyPr wrap="square" anchor="t" lIns="18288" rIns="27432" tIns="9144" bIns="18288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00" b="0" i="0">
                <a:solidFill>
                  <a:srgbClr val="B2B8C4"/>
                </a:solidFill>
                <a:latin typeface="Arial"/>
              </a:rPr>
              <a:t>SQLite</a:t>
            </a:r>
            <a:endParaRPr sz="14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00" b="0" i="0">
                <a:solidFill>
                  <a:srgbClr val="B2B8C4"/>
                </a:solidFill>
                <a:latin typeface="Arial"/>
              </a:rPr>
              <a:t>каталог images/</a:t>
            </a:r>
            <a:endParaRPr sz="14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00" b="0" i="0">
                <a:solidFill>
                  <a:srgbClr val="B2B8C4"/>
                </a:solidFill>
                <a:latin typeface="Arial"/>
              </a:rPr>
              <a:t>seed-данные и backup</a:t>
            </a:r>
            <a:endParaRPr sz="1400" b="0" i="0">
              <a:latin typeface="Arial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2834640" y="3072384"/>
            <a:ext cx="228600" cy="0"/>
          </a:xfrm>
          <a:prstGeom prst="line">
            <a:avLst/>
          </a:prstGeom>
          <a:ln w="2540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303520" y="3072384"/>
            <a:ext cx="274320" cy="0"/>
          </a:xfrm>
          <a:prstGeom prst="line">
            <a:avLst/>
          </a:prstGeom>
          <a:ln w="2540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818120" y="3072384"/>
            <a:ext cx="320040" cy="0"/>
          </a:xfrm>
          <a:prstGeom prst="line">
            <a:avLst/>
          </a:prstGeom>
          <a:ln w="2540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77240" y="4572000"/>
            <a:ext cx="3154680" cy="1325880"/>
          </a:xfrm>
          <a:prstGeom prst="roundRect">
            <a:avLst/>
          </a:prstGeom>
          <a:solidFill>
            <a:srgbClr val="192335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" y="4572000"/>
            <a:ext cx="73152" cy="132588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" y="4681728"/>
            <a:ext cx="289864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Интеграции фронта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" y="5047488"/>
            <a:ext cx="2880360" cy="740664"/>
          </a:xfrm>
          <a:prstGeom prst="rect">
            <a:avLst/>
          </a:prstGeom>
          <a:noFill/>
        </p:spPr>
        <p:txBody>
          <a:bodyPr wrap="square" anchor="t" lIns="18288" rIns="27432" tIns="9144" bIns="18288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B2B8C4"/>
                </a:solidFill>
                <a:latin typeface="Arial"/>
              </a:rPr>
              <a:t>GET/POST через Axios:</a:t>
            </a:r>
            <a:endParaRPr sz="13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B2B8C4"/>
                </a:solidFill>
                <a:latin typeface="Arial"/>
              </a:rPr>
              <a:t>/api/menu, /api/reviews, /api/orders,</a:t>
            </a:r>
            <a:endParaRPr sz="13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B2B8C4"/>
                </a:solidFill>
                <a:latin typeface="Arial"/>
              </a:rPr>
              <a:t>/api/table-reservations</a:t>
            </a:r>
            <a:endParaRPr sz="1300" b="0" i="0">
              <a:latin typeface="Arial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4160520" y="4572000"/>
            <a:ext cx="2926080" cy="1325880"/>
          </a:xfrm>
          <a:prstGeom prst="roundRect">
            <a:avLst/>
          </a:prstGeom>
          <a:solidFill>
            <a:srgbClr val="1F2B40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60520" y="4572000"/>
            <a:ext cx="73152" cy="132588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25112" y="4681728"/>
            <a:ext cx="267004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Безопасность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25112" y="5047488"/>
            <a:ext cx="2651760" cy="740664"/>
          </a:xfrm>
          <a:prstGeom prst="rect">
            <a:avLst/>
          </a:prstGeom>
          <a:noFill/>
        </p:spPr>
        <p:txBody>
          <a:bodyPr wrap="square" anchor="t" lIns="18288" rIns="27432" tIns="9144" bIns="18288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B2B8C4"/>
                </a:solidFill>
                <a:latin typeface="Arial"/>
              </a:rPr>
              <a:t>JWT для админки,</a:t>
            </a:r>
            <a:endParaRPr sz="13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B2B8C4"/>
                </a:solidFill>
                <a:latin typeface="Arial"/>
              </a:rPr>
              <a:t>валидация входных данных,</a:t>
            </a:r>
            <a:endParaRPr sz="13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B2B8C4"/>
                </a:solidFill>
                <a:latin typeface="Arial"/>
              </a:rPr>
              <a:t>ограничение upload по MIME-типу</a:t>
            </a:r>
            <a:endParaRPr sz="1300" b="0" i="0"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7315200" y="4572000"/>
            <a:ext cx="3886200" cy="1325880"/>
          </a:xfrm>
          <a:prstGeom prst="roundRect">
            <a:avLst/>
          </a:prstGeom>
          <a:solidFill>
            <a:srgbClr val="192335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0" y="4572000"/>
            <a:ext cx="73152" cy="132588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79792" y="4681728"/>
            <a:ext cx="363016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Инфраструктура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79792" y="5047488"/>
            <a:ext cx="3611880" cy="740664"/>
          </a:xfrm>
          <a:prstGeom prst="rect">
            <a:avLst/>
          </a:prstGeom>
          <a:noFill/>
        </p:spPr>
        <p:txBody>
          <a:bodyPr wrap="square" anchor="t" lIns="18288" rIns="27432" tIns="9144" bIns="18288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B2B8C4"/>
                </a:solidFill>
                <a:latin typeface="Arial"/>
              </a:rPr>
              <a:t>Docker Compose объединяет frontend и backend,</a:t>
            </a:r>
            <a:endParaRPr sz="13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B2B8C4"/>
                </a:solidFill>
                <a:latin typeface="Arial"/>
              </a:rPr>
              <a:t>а демонстрация публикуется на порту 3000.</a:t>
            </a:r>
            <a:endParaRPr sz="1300" b="0" i="0">
              <a:latin typeface="Arial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02920" y="644652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2B8C4"/>
                </a:solidFill>
              </a:defRPr>
            </a:pPr>
            <a:r>
              <a:t>Дипломный проект • Ресторан «Гастрономия»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2B8C4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51560" y="6016752"/>
            <a:ext cx="1874519" cy="150876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21240" y="-868680"/>
            <a:ext cx="2240280" cy="1920240"/>
          </a:xfrm>
          <a:prstGeom prst="ellipse">
            <a:avLst/>
          </a:prstGeom>
          <a:solidFill>
            <a:srgbClr val="FF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6016752"/>
            <a:ext cx="2331720" cy="155448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84048"/>
            <a:ext cx="1691640" cy="347472"/>
          </a:xfrm>
          <a:prstGeom prst="round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9FB"/>
                </a:solidFill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9FB"/>
                </a:solidFill>
              </a:defRPr>
            </a:pPr>
            <a:r>
              <a:t>Структура базы данных (ERD)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90472"/>
            <a:ext cx="2011680" cy="457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27632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2B8C4"/>
                </a:solidFill>
              </a:defRPr>
            </a:pPr>
            <a:r>
              <a:t>Физическая модель данных проекта на SQLite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2240280" cy="1691640"/>
          </a:xfrm>
          <a:prstGeom prst="round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20240"/>
            <a:ext cx="2240280" cy="384048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47672"/>
            <a:ext cx="224028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500" b="1">
                <a:solidFill>
                  <a:srgbClr val="F8F9FB"/>
                </a:solidFill>
              </a:defRPr>
            </a:pPr>
            <a:r>
              <a:t>menu_items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377440"/>
            <a:ext cx="2103120" cy="11612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PK id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name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category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price / weight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composition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image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featured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1920240"/>
            <a:ext cx="2148840" cy="1691640"/>
          </a:xfrm>
          <a:prstGeom prst="round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54680" y="1920240"/>
            <a:ext cx="2148840" cy="384048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54680" y="1947672"/>
            <a:ext cx="21488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500" b="1">
                <a:solidFill>
                  <a:srgbClr val="F8F9FB"/>
                </a:solidFill>
              </a:defRPr>
            </a:pPr>
            <a:r>
              <a:t>reviews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27832" y="2377440"/>
            <a:ext cx="2011680" cy="11612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PK id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name / email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rating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text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answer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created_at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32120" y="1920240"/>
            <a:ext cx="2240280" cy="1691640"/>
          </a:xfrm>
          <a:prstGeom prst="round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32120" y="1920240"/>
            <a:ext cx="2240280" cy="384048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32120" y="1947672"/>
            <a:ext cx="224028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500" b="1">
                <a:solidFill>
                  <a:srgbClr val="F8F9FB"/>
                </a:solidFill>
              </a:defRPr>
            </a:pPr>
            <a:r>
              <a:t>gallery_images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05272" y="2377440"/>
            <a:ext cx="2103120" cy="11612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PK id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src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alt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description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category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created_at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1920240"/>
            <a:ext cx="2560320" cy="1691640"/>
          </a:xfrm>
          <a:prstGeom prst="round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6720" y="1920240"/>
            <a:ext cx="2560320" cy="384048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0" y="1947672"/>
            <a:ext cx="25603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500" b="1">
                <a:solidFill>
                  <a:srgbClr val="F8F9FB"/>
                </a:solidFill>
              </a:defRPr>
            </a:pPr>
            <a:r>
              <a:t>orders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9872" y="2377440"/>
            <a:ext cx="2423160" cy="11612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PK id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items (JSON)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total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customer_phone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customer_email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status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created_at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0" y="4023360"/>
            <a:ext cx="2743200" cy="1508760"/>
          </a:xfrm>
          <a:prstGeom prst="round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0" y="4023360"/>
            <a:ext cx="2743200" cy="384048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0" y="4050792"/>
            <a:ext cx="274320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500" b="1">
                <a:solidFill>
                  <a:srgbClr val="F8F9FB"/>
                </a:solidFill>
              </a:defRPr>
            </a:pPr>
            <a:r>
              <a:t>users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87952" y="4480560"/>
            <a:ext cx="2606040" cy="9784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PK id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username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email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hashed_password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is_active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B2B8C4"/>
                </a:solidFill>
              </a:defRPr>
            </a:pPr>
            <a:r>
              <a:t>is_admin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5486400" y="3611880"/>
            <a:ext cx="0" cy="411480"/>
          </a:xfrm>
          <a:prstGeom prst="line">
            <a:avLst/>
          </a:prstGeom>
          <a:ln w="25400">
            <a:solidFill>
              <a:srgbClr val="B2B8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22960" y="5715000"/>
            <a:ext cx="1042416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B2B8C4"/>
                </a:solidFill>
              </a:defRPr>
            </a:pPr>
            <a:r>
              <a:t>Примечание: для таблицы orders состав заказа хранится как JSON-строка в поле items, а связь пользователя с контентом реализуется логически через защищенные API-эндпоинты.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4652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2B8C4"/>
                </a:solidFill>
              </a:defRPr>
            </a:pPr>
            <a:r>
              <a:t>Дипломный проект • Ресторан «Гастрономия»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2B8C4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51560" y="6016752"/>
            <a:ext cx="1874519" cy="150876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21240" y="-868680"/>
            <a:ext cx="2240280" cy="1920240"/>
          </a:xfrm>
          <a:prstGeom prst="ellipse">
            <a:avLst/>
          </a:prstGeom>
          <a:solidFill>
            <a:srgbClr val="FF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6016752"/>
            <a:ext cx="2331720" cy="155448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84048"/>
            <a:ext cx="1691640" cy="347472"/>
          </a:xfrm>
          <a:prstGeom prst="round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9FB"/>
                </a:solidFill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9FB"/>
                </a:solidFill>
              </a:defRPr>
            </a:pPr>
            <a:r>
              <a:t>Разработка ПП: инструментальные и программные средства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90472"/>
            <a:ext cx="2011680" cy="457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27632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2B8C4"/>
                </a:solidFill>
              </a:defRPr>
            </a:pPr>
            <a:r>
              <a:t>Технологический стек проекта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65960"/>
            <a:ext cx="3429000" cy="2971800"/>
          </a:xfrm>
          <a:prstGeom prst="roundRect">
            <a:avLst/>
          </a:prstGeom>
          <a:solidFill>
            <a:srgbClr val="192335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965960"/>
            <a:ext cx="73152" cy="29718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075688"/>
            <a:ext cx="317296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441448"/>
            <a:ext cx="3154680" cy="2386584"/>
          </a:xfrm>
          <a:prstGeom prst="rect">
            <a:avLst/>
          </a:prstGeom>
          <a:noFill/>
        </p:spPr>
        <p:txBody>
          <a:bodyPr wrap="square" anchor="t" lIns="18288" rIns="27432" tIns="9144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  <a:defRPr sz="1600" b="0">
                <a:solidFill>
                  <a:srgbClr val="B2B8C4"/>
                </a:solidFill>
              </a:defRPr>
            </a:pPr>
            <a:r>
              <a:t>• Vue 3</a:t>
            </a:r>
          </a:p>
          <a:p>
            <a:pPr algn="l">
              <a:lnSpc>
                <a:spcPct val="102000"/>
              </a:lnSpc>
              <a:spcAft>
                <a:spcPts val="0"/>
              </a:spcAft>
              <a:defRPr sz="1600" b="0">
                <a:solidFill>
                  <a:srgbClr val="B2B8C4"/>
                </a:solidFill>
              </a:defRPr>
            </a:pPr>
            <a:r>
              <a:t>• Vite</a:t>
            </a:r>
          </a:p>
          <a:p>
            <a:pPr algn="l">
              <a:lnSpc>
                <a:spcPct val="102000"/>
              </a:lnSpc>
              <a:spcAft>
                <a:spcPts val="0"/>
              </a:spcAft>
              <a:defRPr sz="1600" b="0">
                <a:solidFill>
                  <a:srgbClr val="B2B8C4"/>
                </a:solidFill>
              </a:defRPr>
            </a:pPr>
            <a:r>
              <a:t>• Tailwind CSS</a:t>
            </a:r>
          </a:p>
          <a:p>
            <a:pPr algn="l">
              <a:lnSpc>
                <a:spcPct val="102000"/>
              </a:lnSpc>
              <a:spcAft>
                <a:spcPts val="0"/>
              </a:spcAft>
              <a:defRPr sz="1600" b="0">
                <a:solidFill>
                  <a:srgbClr val="B2B8C4"/>
                </a:solidFill>
              </a:defRPr>
            </a:pPr>
            <a:r>
              <a:t>• Vue Router</a:t>
            </a:r>
          </a:p>
          <a:p>
            <a:pPr algn="l">
              <a:lnSpc>
                <a:spcPct val="102000"/>
              </a:lnSpc>
              <a:spcAft>
                <a:spcPts val="0"/>
              </a:spcAft>
              <a:defRPr sz="1600" b="0">
                <a:solidFill>
                  <a:srgbClr val="B2B8C4"/>
                </a:solidFill>
              </a:defRPr>
            </a:pPr>
            <a:r>
              <a:t>• Vuex</a:t>
            </a:r>
          </a:p>
          <a:p>
            <a:pPr algn="l">
              <a:lnSpc>
                <a:spcPct val="102000"/>
              </a:lnSpc>
              <a:spcAft>
                <a:spcPts val="0"/>
              </a:spcAft>
              <a:defRPr sz="1600" b="0">
                <a:solidFill>
                  <a:srgbClr val="B2B8C4"/>
                </a:solidFill>
              </a:defRPr>
            </a:pPr>
            <a:r>
              <a:t>• Axios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965960"/>
            <a:ext cx="3429000" cy="2971800"/>
          </a:xfrm>
          <a:prstGeom prst="roundRect">
            <a:avLst/>
          </a:prstGeom>
          <a:solidFill>
            <a:srgbClr val="1F2B40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965960"/>
            <a:ext cx="73152" cy="29718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3712" y="2075688"/>
            <a:ext cx="317296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3712" y="2441448"/>
            <a:ext cx="3154680" cy="2386584"/>
          </a:xfrm>
          <a:prstGeom prst="rect">
            <a:avLst/>
          </a:prstGeom>
          <a:noFill/>
        </p:spPr>
        <p:txBody>
          <a:bodyPr wrap="square" anchor="t" lIns="18288" rIns="27432" tIns="9144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  <a:defRPr sz="1600" b="0">
                <a:solidFill>
                  <a:srgbClr val="B2B8C4"/>
                </a:solidFill>
              </a:defRPr>
            </a:pPr>
            <a:r>
              <a:t>• FastAPI</a:t>
            </a:r>
          </a:p>
          <a:p>
            <a:pPr algn="l">
              <a:lnSpc>
                <a:spcPct val="102000"/>
              </a:lnSpc>
              <a:spcAft>
                <a:spcPts val="0"/>
              </a:spcAft>
              <a:defRPr sz="1600" b="0">
                <a:solidFill>
                  <a:srgbClr val="B2B8C4"/>
                </a:solidFill>
              </a:defRPr>
            </a:pPr>
            <a:r>
              <a:t>• SQLAlchemy</a:t>
            </a:r>
          </a:p>
          <a:p>
            <a:pPr algn="l">
              <a:lnSpc>
                <a:spcPct val="102000"/>
              </a:lnSpc>
              <a:spcAft>
                <a:spcPts val="0"/>
              </a:spcAft>
              <a:defRPr sz="1600" b="0">
                <a:solidFill>
                  <a:srgbClr val="B2B8C4"/>
                </a:solidFill>
              </a:defRPr>
            </a:pPr>
            <a:r>
              <a:t>• SQLite</a:t>
            </a:r>
          </a:p>
          <a:p>
            <a:pPr algn="l">
              <a:lnSpc>
                <a:spcPct val="102000"/>
              </a:lnSpc>
              <a:spcAft>
                <a:spcPts val="0"/>
              </a:spcAft>
              <a:defRPr sz="1600" b="0">
                <a:solidFill>
                  <a:srgbClr val="B2B8C4"/>
                </a:solidFill>
              </a:defRPr>
            </a:pPr>
            <a:r>
              <a:t>• Pydantic schemas</a:t>
            </a:r>
          </a:p>
          <a:p>
            <a:pPr algn="l">
              <a:lnSpc>
                <a:spcPct val="102000"/>
              </a:lnSpc>
              <a:spcAft>
                <a:spcPts val="0"/>
              </a:spcAft>
              <a:defRPr sz="1600" b="0">
                <a:solidFill>
                  <a:srgbClr val="B2B8C4"/>
                </a:solidFill>
              </a:defRPr>
            </a:pPr>
            <a:r>
              <a:t>• JWT + passlib</a:t>
            </a:r>
          </a:p>
          <a:p>
            <a:pPr algn="l">
              <a:lnSpc>
                <a:spcPct val="102000"/>
              </a:lnSpc>
              <a:spcAft>
                <a:spcPts val="0"/>
              </a:spcAft>
              <a:defRPr sz="1600" b="0">
                <a:solidFill>
                  <a:srgbClr val="B2B8C4"/>
                </a:solidFill>
              </a:defRPr>
            </a:pPr>
            <a:r>
              <a:t>• Upload image API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965960"/>
            <a:ext cx="3154680" cy="2971800"/>
          </a:xfrm>
          <a:prstGeom prst="roundRect">
            <a:avLst/>
          </a:prstGeom>
          <a:solidFill>
            <a:srgbClr val="192335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1965960"/>
            <a:ext cx="73152" cy="29718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2" y="2075688"/>
            <a:ext cx="289864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Инструменты и DevOps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2" y="2441448"/>
            <a:ext cx="2880360" cy="2386584"/>
          </a:xfrm>
          <a:prstGeom prst="rect">
            <a:avLst/>
          </a:prstGeom>
          <a:noFill/>
        </p:spPr>
        <p:txBody>
          <a:bodyPr wrap="square" anchor="t" lIns="18288" rIns="27432" tIns="9144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  <a:defRPr sz="1500" b="0">
                <a:solidFill>
                  <a:srgbClr val="B2B8C4"/>
                </a:solidFill>
              </a:defRPr>
            </a:pPr>
            <a:r>
              <a:t>• VS Code</a:t>
            </a:r>
          </a:p>
          <a:p>
            <a:pPr algn="l">
              <a:lnSpc>
                <a:spcPct val="102000"/>
              </a:lnSpc>
              <a:spcAft>
                <a:spcPts val="0"/>
              </a:spcAft>
              <a:defRPr sz="1500" b="0">
                <a:solidFill>
                  <a:srgbClr val="B2B8C4"/>
                </a:solidFill>
              </a:defRPr>
            </a:pPr>
            <a:r>
              <a:t>• Git / GitHub</a:t>
            </a:r>
          </a:p>
          <a:p>
            <a:pPr algn="l">
              <a:lnSpc>
                <a:spcPct val="102000"/>
              </a:lnSpc>
              <a:spcAft>
                <a:spcPts val="0"/>
              </a:spcAft>
              <a:defRPr sz="1500" b="0">
                <a:solidFill>
                  <a:srgbClr val="B2B8C4"/>
                </a:solidFill>
              </a:defRPr>
            </a:pPr>
            <a:r>
              <a:t>• Docker Compose</a:t>
            </a:r>
          </a:p>
          <a:p>
            <a:pPr algn="l">
              <a:lnSpc>
                <a:spcPct val="102000"/>
              </a:lnSpc>
              <a:spcAft>
                <a:spcPts val="0"/>
              </a:spcAft>
              <a:defRPr sz="1500" b="0">
                <a:solidFill>
                  <a:srgbClr val="B2B8C4"/>
                </a:solidFill>
              </a:defRPr>
            </a:pPr>
            <a:r>
              <a:t>• Nginx</a:t>
            </a:r>
          </a:p>
          <a:p>
            <a:pPr algn="l">
              <a:lnSpc>
                <a:spcPct val="102000"/>
              </a:lnSpc>
              <a:spcAft>
                <a:spcPts val="0"/>
              </a:spcAft>
              <a:defRPr sz="1500" b="0">
                <a:solidFill>
                  <a:srgbClr val="B2B8C4"/>
                </a:solidFill>
              </a:defRPr>
            </a:pPr>
            <a:r>
              <a:t>• Chrome DevTools</a:t>
            </a:r>
          </a:p>
          <a:p>
            <a:pPr algn="l">
              <a:lnSpc>
                <a:spcPct val="102000"/>
              </a:lnSpc>
              <a:spcAft>
                <a:spcPts val="0"/>
              </a:spcAft>
              <a:defRPr sz="1500" b="0">
                <a:solidFill>
                  <a:srgbClr val="B2B8C4"/>
                </a:solidFill>
              </a:defRPr>
            </a:pPr>
            <a:r>
              <a:t>• python-pptx для генерации презентации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4652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2B8C4"/>
                </a:solidFill>
              </a:defRPr>
            </a:pPr>
            <a:r>
              <a:t>Дипломный проект • Ресторан «Гастрономия»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2B8C4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51560" y="6016752"/>
            <a:ext cx="1874519" cy="150876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21240" y="-868680"/>
            <a:ext cx="2240280" cy="1920240"/>
          </a:xfrm>
          <a:prstGeom prst="ellipse">
            <a:avLst/>
          </a:prstGeom>
          <a:solidFill>
            <a:srgbClr val="FF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6016752"/>
            <a:ext cx="2331720" cy="155448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84048"/>
            <a:ext cx="1691640" cy="347472"/>
          </a:xfrm>
          <a:prstGeom prst="round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9FB"/>
                </a:solidFill>
              </a:defRPr>
            </a:pPr>
            <a: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9FB"/>
                </a:solidFill>
              </a:defRPr>
            </a:pPr>
            <a:r>
              <a:t>Календарный план разработки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90472"/>
            <a:ext cx="2011680" cy="457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27632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2B8C4"/>
                </a:solidFill>
              </a:defRPr>
            </a:pPr>
            <a:r>
              <a:t>Этапы выполнения дипломного проекта по неделям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057400"/>
            <a:ext cx="19202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300" b="1">
                <a:solidFill>
                  <a:srgbClr val="F8F9FB"/>
                </a:solidFill>
              </a:defRPr>
            </a:pPr>
            <a:r>
              <a:t>Этап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70632" y="2029968"/>
            <a:ext cx="603504" cy="310896"/>
          </a:xfrm>
          <a:prstGeom prst="roundRect">
            <a:avLst/>
          </a:prstGeom>
          <a:solidFill>
            <a:srgbClr val="1F2B40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70632" y="2093976"/>
            <a:ext cx="603504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200" b="1">
                <a:solidFill>
                  <a:srgbClr val="F8F9FB"/>
                </a:solidFill>
              </a:defRPr>
            </a:pPr>
            <a: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83864" y="2029968"/>
            <a:ext cx="603504" cy="310896"/>
          </a:xfrm>
          <a:prstGeom prst="roundRect">
            <a:avLst/>
          </a:prstGeom>
          <a:solidFill>
            <a:srgbClr val="1F2B40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3864" y="2093976"/>
            <a:ext cx="603504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200" b="1">
                <a:solidFill>
                  <a:srgbClr val="F8F9FB"/>
                </a:solidFill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97096" y="2029968"/>
            <a:ext cx="603504" cy="310896"/>
          </a:xfrm>
          <a:prstGeom prst="roundRect">
            <a:avLst/>
          </a:prstGeom>
          <a:solidFill>
            <a:srgbClr val="1F2B40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97096" y="2093976"/>
            <a:ext cx="603504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200" b="1">
                <a:solidFill>
                  <a:srgbClr val="F8F9FB"/>
                </a:solidFill>
              </a:defRPr>
            </a:pPr>
            <a: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10328" y="2029968"/>
            <a:ext cx="603504" cy="310896"/>
          </a:xfrm>
          <a:prstGeom prst="roundRect">
            <a:avLst/>
          </a:prstGeom>
          <a:solidFill>
            <a:srgbClr val="1F2B40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0328" y="2093976"/>
            <a:ext cx="603504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200" b="1">
                <a:solidFill>
                  <a:srgbClr val="F8F9FB"/>
                </a:solidFill>
              </a:defRPr>
            </a:pPr>
            <a: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23560" y="2029968"/>
            <a:ext cx="603504" cy="310896"/>
          </a:xfrm>
          <a:prstGeom prst="roundRect">
            <a:avLst/>
          </a:prstGeom>
          <a:solidFill>
            <a:srgbClr val="1F2B40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23560" y="2093976"/>
            <a:ext cx="603504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200" b="1">
                <a:solidFill>
                  <a:srgbClr val="F8F9FB"/>
                </a:solidFill>
              </a:defRPr>
            </a:pPr>
            <a: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36792" y="2029968"/>
            <a:ext cx="603504" cy="310896"/>
          </a:xfrm>
          <a:prstGeom prst="roundRect">
            <a:avLst/>
          </a:prstGeom>
          <a:solidFill>
            <a:srgbClr val="1F2B40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2093976"/>
            <a:ext cx="603504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200" b="1">
                <a:solidFill>
                  <a:srgbClr val="F8F9FB"/>
                </a:solidFill>
              </a:defRPr>
            </a:pPr>
            <a:r>
              <a:t>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50024" y="2029968"/>
            <a:ext cx="603504" cy="310896"/>
          </a:xfrm>
          <a:prstGeom prst="roundRect">
            <a:avLst/>
          </a:prstGeom>
          <a:solidFill>
            <a:srgbClr val="1F2B40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50024" y="2093976"/>
            <a:ext cx="603504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200" b="1">
                <a:solidFill>
                  <a:srgbClr val="F8F9FB"/>
                </a:solidFill>
              </a:defRPr>
            </a:pPr>
            <a:r>
              <a:t>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63256" y="2029968"/>
            <a:ext cx="603504" cy="310896"/>
          </a:xfrm>
          <a:prstGeom prst="roundRect">
            <a:avLst/>
          </a:prstGeom>
          <a:solidFill>
            <a:srgbClr val="1F2B40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63256" y="2093976"/>
            <a:ext cx="603504" cy="1371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200" b="1">
                <a:solidFill>
                  <a:srgbClr val="F8F9FB"/>
                </a:solidFill>
              </a:defRPr>
            </a:pPr>
            <a:r>
              <a:t>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2523744"/>
            <a:ext cx="182880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F8F9FB"/>
                </a:solidFill>
              </a:defRPr>
            </a:pPr>
            <a:r>
              <a:t>Сбор требований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70632" y="2468880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83864" y="2468880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97096" y="2468880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10328" y="2468880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23560" y="2468880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36792" y="2468880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050024" y="2468880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63256" y="2468880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770632" y="2487168"/>
            <a:ext cx="694944" cy="274320"/>
          </a:xfrm>
          <a:prstGeom prst="round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" y="2999232"/>
            <a:ext cx="182880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F8F9FB"/>
                </a:solidFill>
              </a:defRPr>
            </a:pPr>
            <a:r>
              <a:t>Проектирование UI/UX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70632" y="2944368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83864" y="2944368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97096" y="2944368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910328" y="2944368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623560" y="2944368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36792" y="2944368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050024" y="2944368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763256" y="2944368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2770632" y="2962656"/>
            <a:ext cx="1408176" cy="274320"/>
          </a:xfrm>
          <a:prstGeom prst="roundRect">
            <a:avLst/>
          </a:prstGeom>
          <a:solidFill>
            <a:srgbClr val="FF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3232" y="3474720"/>
            <a:ext cx="182880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F8F9FB"/>
                </a:solidFill>
              </a:defRPr>
            </a:pPr>
            <a:r>
              <a:t>Frontend SPA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70632" y="3419856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483864" y="3419856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197096" y="3419856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910328" y="3419856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623560" y="3419856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336792" y="3419856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050024" y="3419856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763256" y="3419856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3483864" y="3438144"/>
            <a:ext cx="2121408" cy="274320"/>
          </a:xfrm>
          <a:prstGeom prst="roundRect">
            <a:avLst/>
          </a:prstGeom>
          <a:solidFill>
            <a:srgbClr val="569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3232" y="3950207"/>
            <a:ext cx="182880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F8F9FB"/>
                </a:solidFill>
              </a:defRPr>
            </a:pPr>
            <a:r>
              <a:t>Backend + БД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70632" y="3895344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483864" y="3895344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197096" y="3895344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910328" y="3895344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623560" y="3895344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336792" y="3895344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050024" y="3895344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763256" y="3895344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4197096" y="3913631"/>
            <a:ext cx="2121408" cy="274320"/>
          </a:xfrm>
          <a:prstGeom prst="roundRect">
            <a:avLst/>
          </a:prstGeom>
          <a:solidFill>
            <a:srgbClr val="818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13232" y="4425695"/>
            <a:ext cx="182880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F8F9FB"/>
                </a:solidFill>
              </a:defRPr>
            </a:pPr>
            <a:r>
              <a:t>Интеграция API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70632" y="4370831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483864" y="4370831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97096" y="4370831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910328" y="4370831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623560" y="4370831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336792" y="4370831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050024" y="4370831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763256" y="4370831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5623560" y="4389119"/>
            <a:ext cx="1408176" cy="27432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13232" y="4901183"/>
            <a:ext cx="182880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F8F9FB"/>
                </a:solidFill>
              </a:defRPr>
            </a:pPr>
            <a:r>
              <a:t>Тестирование и bugfix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70632" y="4846319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483864" y="4846319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4197096" y="4846319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910328" y="4846319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623560" y="4846319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336792" y="4846319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50024" y="4846319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63256" y="4846319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6336792" y="4864607"/>
            <a:ext cx="1408176" cy="274320"/>
          </a:xfrm>
          <a:prstGeom prst="roundRect">
            <a:avLst/>
          </a:prstGeom>
          <a:solidFill>
            <a:srgbClr val="44C9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13232" y="5376671"/>
            <a:ext cx="182880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200" b="0">
                <a:solidFill>
                  <a:srgbClr val="F8F9FB"/>
                </a:solidFill>
              </a:defRPr>
            </a:pPr>
            <a:r>
              <a:t>Docker и подготовка к защите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770632" y="5321807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483864" y="5321807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197096" y="5321807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910328" y="5321807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623560" y="5321807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6336792" y="5321807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050024" y="5321807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763256" y="5321807"/>
            <a:ext cx="603504" cy="310896"/>
          </a:xfrm>
          <a:prstGeom prst="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7050024" y="5340095"/>
            <a:ext cx="1408176" cy="274320"/>
          </a:xfrm>
          <a:prstGeom prst="roundRect">
            <a:avLst/>
          </a:prstGeom>
          <a:solidFill>
            <a:srgbClr val="FF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02920" y="644652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2B8C4"/>
                </a:solidFill>
              </a:defRPr>
            </a:pPr>
            <a:r>
              <a:t>Дипломный проект • Ресторан «Гастрономия»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2B8C4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51560" y="6016752"/>
            <a:ext cx="1874519" cy="150876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21240" y="-868680"/>
            <a:ext cx="2240280" cy="1920240"/>
          </a:xfrm>
          <a:prstGeom prst="ellipse">
            <a:avLst/>
          </a:prstGeom>
          <a:solidFill>
            <a:srgbClr val="FF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6016752"/>
            <a:ext cx="2331720" cy="155448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84048"/>
            <a:ext cx="1691640" cy="347472"/>
          </a:xfrm>
          <a:prstGeom prst="round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9FB"/>
                </a:solidFill>
              </a:defRPr>
            </a:pPr>
            <a: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9FB"/>
                </a:solidFill>
              </a:defRPr>
            </a:pPr>
            <a:r>
              <a:t>Доска задач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90472"/>
            <a:ext cx="2011680" cy="457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27632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2B8C4"/>
                </a:solidFill>
              </a:defRPr>
            </a:pPr>
            <a:r>
              <a:t>Kanban-представление состояния работ по проекту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2697480" cy="4206240"/>
          </a:xfrm>
          <a:prstGeom prst="round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4088" y="1938528"/>
            <a:ext cx="2478024" cy="411480"/>
          </a:xfrm>
          <a:prstGeom prst="roundRect">
            <a:avLst/>
          </a:prstGeom>
          <a:solidFill>
            <a:srgbClr val="1F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029968"/>
            <a:ext cx="2478024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rgbClr val="F8F9FB"/>
                </a:solidFill>
              </a:defRPr>
            </a:pPr>
            <a:r>
              <a:t>Backlog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" y="2514600"/>
            <a:ext cx="2377440" cy="530352"/>
          </a:xfrm>
          <a:prstGeom prst="roundRect">
            <a:avLst/>
          </a:prstGeom>
          <a:solidFill>
            <a:srgbClr val="222E45"/>
          </a:solidFill>
          <a:ln>
            <a:solidFill>
              <a:srgbClr val="B2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615184"/>
            <a:ext cx="21488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F8F9FB"/>
                </a:solidFill>
              </a:defRPr>
            </a:pPr>
            <a:r>
              <a:t>Аналитика посещаемости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" y="3172968"/>
            <a:ext cx="2377440" cy="530352"/>
          </a:xfrm>
          <a:prstGeom prst="roundRect">
            <a:avLst/>
          </a:prstGeom>
          <a:solidFill>
            <a:srgbClr val="222E45"/>
          </a:solidFill>
          <a:ln>
            <a:solidFill>
              <a:srgbClr val="B2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3273551"/>
            <a:ext cx="21488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F8F9FB"/>
                </a:solidFill>
              </a:defRPr>
            </a:pPr>
            <a:r>
              <a:t>Email/SMS уведомления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" y="3831335"/>
            <a:ext cx="2377440" cy="530352"/>
          </a:xfrm>
          <a:prstGeom prst="roundRect">
            <a:avLst/>
          </a:prstGeom>
          <a:solidFill>
            <a:srgbClr val="222E45"/>
          </a:solidFill>
          <a:ln>
            <a:solidFill>
              <a:srgbClr val="B2B8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3931920"/>
            <a:ext cx="21488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F8F9FB"/>
                </a:solidFill>
              </a:defRPr>
            </a:pPr>
            <a:r>
              <a:t>Онлайн-оплата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65576" y="1828800"/>
            <a:ext cx="2697480" cy="4206240"/>
          </a:xfrm>
          <a:prstGeom prst="round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575304" y="1938528"/>
            <a:ext cx="2478024" cy="411480"/>
          </a:xfrm>
          <a:prstGeom prst="roundRect">
            <a:avLst/>
          </a:prstGeom>
          <a:solidFill>
            <a:srgbClr val="1F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75304" y="2029968"/>
            <a:ext cx="2478024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rgbClr val="F8F9FB"/>
                </a:solidFill>
              </a:defRPr>
            </a:pPr>
            <a:r>
              <a:t>In Progress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30168" y="2514600"/>
            <a:ext cx="2377440" cy="530352"/>
          </a:xfrm>
          <a:prstGeom prst="roundRect">
            <a:avLst/>
          </a:prstGeom>
          <a:solidFill>
            <a:srgbClr val="222E45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2615184"/>
            <a:ext cx="21488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F8F9FB"/>
                </a:solidFill>
              </a:defRPr>
            </a:pPr>
            <a:r>
              <a:t>Сохранение бронирований в БД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30168" y="3172968"/>
            <a:ext cx="2377440" cy="530352"/>
          </a:xfrm>
          <a:prstGeom prst="roundRect">
            <a:avLst/>
          </a:prstGeom>
          <a:solidFill>
            <a:srgbClr val="222E45"/>
          </a:solidFill>
          <a:ln>
            <a:solidFill>
              <a:srgbClr val="FFB8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21608" y="3273551"/>
            <a:ext cx="21488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F8F9FB"/>
                </a:solidFill>
              </a:defRPr>
            </a:pPr>
            <a:r>
              <a:t>Расширение формы бронирования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36792" y="1828800"/>
            <a:ext cx="2697480" cy="4206240"/>
          </a:xfrm>
          <a:prstGeom prst="round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46520" y="1938528"/>
            <a:ext cx="2478024" cy="411480"/>
          </a:xfrm>
          <a:prstGeom prst="roundRect">
            <a:avLst/>
          </a:prstGeom>
          <a:solidFill>
            <a:srgbClr val="1F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2029968"/>
            <a:ext cx="2478024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rgbClr val="F8F9FB"/>
                </a:solidFill>
              </a:defRPr>
            </a:pPr>
            <a:r>
              <a:t>Review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01383" y="2514600"/>
            <a:ext cx="2377440" cy="530352"/>
          </a:xfrm>
          <a:prstGeom prst="roundRect">
            <a:avLst/>
          </a:prstGeom>
          <a:solidFill>
            <a:srgbClr val="222E45"/>
          </a:solidFill>
          <a:ln>
            <a:solidFill>
              <a:srgbClr val="67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92824" y="2615184"/>
            <a:ext cx="21488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F8F9FB"/>
                </a:solidFill>
              </a:defRPr>
            </a:pPr>
            <a:r>
              <a:t>UX-сообщения об ошибках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01383" y="3172968"/>
            <a:ext cx="2377440" cy="530352"/>
          </a:xfrm>
          <a:prstGeom prst="roundRect">
            <a:avLst/>
          </a:prstGeom>
          <a:solidFill>
            <a:srgbClr val="222E45"/>
          </a:solidFill>
          <a:ln>
            <a:solidFill>
              <a:srgbClr val="679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92824" y="3273551"/>
            <a:ext cx="21488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F8F9FB"/>
                </a:solidFill>
              </a:defRPr>
            </a:pPr>
            <a:r>
              <a:t>Документация по развертыванию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08008" y="1828800"/>
            <a:ext cx="2697480" cy="4206240"/>
          </a:xfrm>
          <a:prstGeom prst="roundRect">
            <a:avLst/>
          </a:prstGeom>
          <a:solidFill>
            <a:srgbClr val="192335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317736" y="1938528"/>
            <a:ext cx="2478024" cy="411480"/>
          </a:xfrm>
          <a:prstGeom prst="roundRect">
            <a:avLst/>
          </a:prstGeom>
          <a:solidFill>
            <a:srgbClr val="1F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17736" y="2029968"/>
            <a:ext cx="2478024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rgbClr val="F8F9FB"/>
                </a:solidFill>
              </a:defRPr>
            </a:pPr>
            <a:r>
              <a:t>Done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72600" y="2514600"/>
            <a:ext cx="2377440" cy="530352"/>
          </a:xfrm>
          <a:prstGeom prst="roundRect">
            <a:avLst/>
          </a:prstGeom>
          <a:solidFill>
            <a:srgbClr val="222E45"/>
          </a:solidFill>
          <a:ln>
            <a:solidFill>
              <a:srgbClr val="44C9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64040" y="2615184"/>
            <a:ext cx="21488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F8F9FB"/>
                </a:solidFill>
              </a:defRPr>
            </a:pPr>
            <a:r>
              <a:t>Маршруты SPA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372600" y="3172968"/>
            <a:ext cx="2377440" cy="530352"/>
          </a:xfrm>
          <a:prstGeom prst="roundRect">
            <a:avLst/>
          </a:prstGeom>
          <a:solidFill>
            <a:srgbClr val="222E45"/>
          </a:solidFill>
          <a:ln>
            <a:solidFill>
              <a:srgbClr val="44C9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464040" y="3273551"/>
            <a:ext cx="21488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F8F9FB"/>
                </a:solidFill>
              </a:defRPr>
            </a:pPr>
            <a:r>
              <a:t>Меню / отзывы / галерея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372600" y="3831335"/>
            <a:ext cx="2377440" cy="530352"/>
          </a:xfrm>
          <a:prstGeom prst="roundRect">
            <a:avLst/>
          </a:prstGeom>
          <a:solidFill>
            <a:srgbClr val="222E45"/>
          </a:solidFill>
          <a:ln>
            <a:solidFill>
              <a:srgbClr val="44C9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64040" y="3931920"/>
            <a:ext cx="21488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F8F9FB"/>
                </a:solidFill>
              </a:defRPr>
            </a:pPr>
            <a:r>
              <a:t>Корзина и заказ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372600" y="4489703"/>
            <a:ext cx="2377440" cy="530352"/>
          </a:xfrm>
          <a:prstGeom prst="roundRect">
            <a:avLst/>
          </a:prstGeom>
          <a:solidFill>
            <a:srgbClr val="222E45"/>
          </a:solidFill>
          <a:ln>
            <a:solidFill>
              <a:srgbClr val="44C9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64040" y="4590288"/>
            <a:ext cx="21488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F8F9FB"/>
                </a:solidFill>
              </a:defRPr>
            </a:pPr>
            <a:r>
              <a:t>JWT-админка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72600" y="5148071"/>
            <a:ext cx="2377440" cy="530352"/>
          </a:xfrm>
          <a:prstGeom prst="roundRect">
            <a:avLst/>
          </a:prstGeom>
          <a:solidFill>
            <a:srgbClr val="222E45"/>
          </a:solidFill>
          <a:ln>
            <a:solidFill>
              <a:srgbClr val="44C9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64040" y="5248655"/>
            <a:ext cx="214884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100" b="0">
                <a:solidFill>
                  <a:srgbClr val="F8F9FB"/>
                </a:solidFill>
              </a:defRPr>
            </a:pPr>
            <a:r>
              <a:t>Docker-развертывание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44652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2B8C4"/>
                </a:solidFill>
              </a:defRPr>
            </a:pPr>
            <a:r>
              <a:t>Дипломный проект • Ресторан «Гастрономия»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2B8C4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51560" y="6016752"/>
            <a:ext cx="1874519" cy="150876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21240" y="-868680"/>
            <a:ext cx="2240280" cy="1920240"/>
          </a:xfrm>
          <a:prstGeom prst="ellipse">
            <a:avLst/>
          </a:prstGeom>
          <a:solidFill>
            <a:srgbClr val="FF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6016752"/>
            <a:ext cx="2331720" cy="155448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84048"/>
            <a:ext cx="1691640" cy="347472"/>
          </a:xfrm>
          <a:prstGeom prst="round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9FB"/>
                </a:solidFill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9FB"/>
                </a:solidFill>
              </a:defRPr>
            </a:pPr>
            <a:r>
              <a:t>Тест-план / тест-кейсы и bug-report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90472"/>
            <a:ext cx="2011680" cy="457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27632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2B8C4"/>
                </a:solidFill>
              </a:defRPr>
            </a:pPr>
            <a:r>
              <a:t>Для презентации выбраны один пройденный и один проваленный кейс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28800"/>
            <a:ext cx="6583680" cy="4069080"/>
          </a:xfrm>
          <a:prstGeom prst="roundRect">
            <a:avLst/>
          </a:prstGeom>
          <a:solidFill>
            <a:srgbClr val="192335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828800"/>
            <a:ext cx="73152" cy="406908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38528"/>
            <a:ext cx="632764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Фрагмент тест-кейсов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304288"/>
            <a:ext cx="6309360" cy="3483864"/>
          </a:xfrm>
          <a:prstGeom prst="rect">
            <a:avLst/>
          </a:prstGeom>
          <a:noFill/>
        </p:spPr>
        <p:txBody>
          <a:bodyPr wrap="square" anchor="t" lIns="18288" rIns="27432" tIns="9144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  <a:defRPr sz="1300" b="0">
                <a:solidFill>
                  <a:srgbClr val="B2B8C4"/>
                </a:solidFill>
              </a:defRPr>
            </a:pPr>
            <a:r>
              <a:t>На изображении ниже представлен фрагмент таблицы, оформленной в Word-стиле: один кейс успешно пройден, один — провален.</a:t>
            </a:r>
          </a:p>
        </p:txBody>
      </p:sp>
      <p:pic>
        <p:nvPicPr>
          <p:cNvPr id="13" name="Picture 12" descr="test_cases_word_style.png"/>
          <p:cNvPicPr>
            <a:picLocks noChangeAspect="1"/>
          </p:cNvPicPr>
          <p:nvPr/>
        </p:nvPicPr>
        <p:blipFill>
          <a:blip r:embed="rId2"/>
          <a:srcRect t="5901" b="5901"/>
          <a:stretch>
            <a:fillRect/>
          </a:stretch>
        </p:blipFill>
        <p:spPr>
          <a:xfrm>
            <a:off x="804672" y="2395728"/>
            <a:ext cx="6309360" cy="324612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452360" y="1828800"/>
            <a:ext cx="3749039" cy="4069080"/>
          </a:xfrm>
          <a:prstGeom prst="roundRect">
            <a:avLst/>
          </a:prstGeom>
          <a:solidFill>
            <a:srgbClr val="1F2B40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1828800"/>
            <a:ext cx="73152" cy="406908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16952" y="1938528"/>
            <a:ext cx="3493007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Bug-report: BUG-02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6952" y="2304288"/>
            <a:ext cx="3474719" cy="3483864"/>
          </a:xfrm>
          <a:prstGeom prst="rect">
            <a:avLst/>
          </a:prstGeom>
          <a:noFill/>
        </p:spPr>
        <p:txBody>
          <a:bodyPr wrap="square" anchor="t" lIns="18288" rIns="27432" tIns="9144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  <a:defRPr sz="1300" b="0">
                <a:solidFill>
                  <a:srgbClr val="B2B8C4"/>
                </a:solidFill>
              </a:defRPr>
            </a:pPr>
            <a:r>
              <a:t>Название: нельзя удалить цифры кода города, если курсор упирается в )</a:t>
            </a:r>
          </a:p>
          <a:p>
            <a:pPr algn="l">
              <a:lnSpc>
                <a:spcPct val="102000"/>
              </a:lnSpc>
              <a:spcAft>
                <a:spcPts val="0"/>
              </a:spcAft>
              <a:defRPr sz="1300" b="0">
                <a:solidFill>
                  <a:srgbClr val="B2B8C4"/>
                </a:solidFill>
              </a:defRPr>
            </a:pPr>
          </a:p>
          <a:p>
            <a:pPr algn="l">
              <a:lnSpc>
                <a:spcPct val="102000"/>
              </a:lnSpc>
              <a:spcAft>
                <a:spcPts val="0"/>
              </a:spcAft>
              <a:defRPr sz="1300" b="0">
                <a:solidFill>
                  <a:srgbClr val="B2B8C4"/>
                </a:solidFill>
              </a:defRPr>
            </a:pPr>
            <a:r>
              <a:t>Шаги:</a:t>
            </a:r>
          </a:p>
          <a:p>
            <a:pPr algn="l">
              <a:lnSpc>
                <a:spcPct val="102000"/>
              </a:lnSpc>
              <a:spcAft>
                <a:spcPts val="0"/>
              </a:spcAft>
              <a:defRPr sz="1300" b="0">
                <a:solidFill>
                  <a:srgbClr val="B2B8C4"/>
                </a:solidFill>
              </a:defRPr>
            </a:pPr>
            <a:r>
              <a:t>1. Открыть форму бронирования.</a:t>
            </a:r>
          </a:p>
          <a:p>
            <a:pPr algn="l">
              <a:lnSpc>
                <a:spcPct val="102000"/>
              </a:lnSpc>
              <a:spcAft>
                <a:spcPts val="0"/>
              </a:spcAft>
              <a:defRPr sz="1300" b="0">
                <a:solidFill>
                  <a:srgbClr val="B2B8C4"/>
                </a:solidFill>
              </a:defRPr>
            </a:pPr>
            <a:r>
              <a:t>2. Ввести +7 (923)</a:t>
            </a:r>
          </a:p>
          <a:p>
            <a:pPr algn="l">
              <a:lnSpc>
                <a:spcPct val="102000"/>
              </a:lnSpc>
              <a:spcAft>
                <a:spcPts val="0"/>
              </a:spcAft>
              <a:defRPr sz="1300" b="0">
                <a:solidFill>
                  <a:srgbClr val="B2B8C4"/>
                </a:solidFill>
              </a:defRPr>
            </a:pPr>
            <a:r>
              <a:t>3. Нажать Backspace/Delete рядом со скобкой.</a:t>
            </a:r>
          </a:p>
          <a:p>
            <a:pPr algn="l">
              <a:lnSpc>
                <a:spcPct val="102000"/>
              </a:lnSpc>
              <a:spcAft>
                <a:spcPts val="0"/>
              </a:spcAft>
              <a:defRPr sz="1300" b="0">
                <a:solidFill>
                  <a:srgbClr val="B2B8C4"/>
                </a:solidFill>
              </a:defRPr>
            </a:pPr>
          </a:p>
          <a:p>
            <a:pPr algn="l">
              <a:lnSpc>
                <a:spcPct val="102000"/>
              </a:lnSpc>
              <a:spcAft>
                <a:spcPts val="0"/>
              </a:spcAft>
              <a:defRPr sz="1300" b="0">
                <a:solidFill>
                  <a:srgbClr val="B2B8C4"/>
                </a:solidFill>
              </a:defRPr>
            </a:pPr>
            <a:r>
              <a:t>Ожидаемо: цифры удаляются, номер корректируется.</a:t>
            </a:r>
          </a:p>
          <a:p>
            <a:pPr algn="l">
              <a:lnSpc>
                <a:spcPct val="102000"/>
              </a:lnSpc>
              <a:spcAft>
                <a:spcPts val="0"/>
              </a:spcAft>
              <a:defRPr sz="1300" b="0">
                <a:solidFill>
                  <a:srgbClr val="B2B8C4"/>
                </a:solidFill>
              </a:defRPr>
            </a:pPr>
            <a:r>
              <a:t>Фактически: курсор стопорится на символе ')'.</a:t>
            </a:r>
          </a:p>
          <a:p>
            <a:pPr algn="l">
              <a:lnSpc>
                <a:spcPct val="102000"/>
              </a:lnSpc>
              <a:spcAft>
                <a:spcPts val="0"/>
              </a:spcAft>
              <a:defRPr sz="1300" b="0">
                <a:solidFill>
                  <a:srgbClr val="B2B8C4"/>
                </a:solidFill>
              </a:defRPr>
            </a:pPr>
          </a:p>
          <a:p>
            <a:pPr algn="l">
              <a:lnSpc>
                <a:spcPct val="102000"/>
              </a:lnSpc>
              <a:spcAft>
                <a:spcPts val="0"/>
              </a:spcAft>
              <a:defRPr sz="1300" b="0">
                <a:solidFill>
                  <a:srgbClr val="B2B8C4"/>
                </a:solidFill>
              </a:defRPr>
            </a:pPr>
            <a:r>
              <a:t>Приоритет: Medium</a:t>
            </a:r>
          </a:p>
          <a:p>
            <a:pPr algn="l">
              <a:lnSpc>
                <a:spcPct val="102000"/>
              </a:lnSpc>
              <a:spcAft>
                <a:spcPts val="0"/>
              </a:spcAft>
              <a:defRPr sz="1300" b="0">
                <a:solidFill>
                  <a:srgbClr val="B2B8C4"/>
                </a:solidFill>
              </a:defRPr>
            </a:pPr>
            <a:r>
              <a:t>Статус: Исправлено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2B8C4"/>
                </a:solidFill>
              </a:defRPr>
            </a:pPr>
            <a:r>
              <a:t>Дипломный проект • Ресторан «Гастрономия»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2B8C4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51560" y="6016752"/>
            <a:ext cx="1874519" cy="150876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21240" y="-868680"/>
            <a:ext cx="2240280" cy="1920240"/>
          </a:xfrm>
          <a:prstGeom prst="ellipse">
            <a:avLst/>
          </a:prstGeom>
          <a:solidFill>
            <a:srgbClr val="FF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6016752"/>
            <a:ext cx="2331720" cy="155448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84048"/>
            <a:ext cx="1691640" cy="347472"/>
          </a:xfrm>
          <a:prstGeom prst="round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9FB"/>
                </a:solidFill>
              </a:defRPr>
            </a:pPr>
            <a: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9FB"/>
                </a:solidFill>
              </a:defRPr>
            </a:pPr>
            <a:r>
              <a:t>Информационная безопасность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90472"/>
            <a:ext cx="2011680" cy="457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27632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2B8C4"/>
                </a:solidFill>
              </a:defRPr>
            </a:pPr>
            <a:r>
              <a:t>Базовые меры защиты, реализованные в проекте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20240"/>
            <a:ext cx="5029200" cy="1325880"/>
          </a:xfrm>
          <a:prstGeom prst="roundRect">
            <a:avLst/>
          </a:prstGeom>
          <a:solidFill>
            <a:srgbClr val="192335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920240"/>
            <a:ext cx="73152" cy="132588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29968"/>
            <a:ext cx="477316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Аутентификация и доступ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395728"/>
            <a:ext cx="4754880" cy="740664"/>
          </a:xfrm>
          <a:prstGeom prst="rect">
            <a:avLst/>
          </a:prstGeom>
          <a:noFill/>
        </p:spPr>
        <p:txBody>
          <a:bodyPr wrap="square" anchor="t" lIns="18288" rIns="27432" tIns="9144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  <a:defRPr sz="1400" b="0">
                <a:solidFill>
                  <a:srgbClr val="B2B8C4"/>
                </a:solidFill>
              </a:defRPr>
            </a:pPr>
            <a:r>
              <a:t>JWT-токен используется для входа в админ-панель, а CRUD-операции над контентом и заказами защищены зависимостью get_current_admin_user.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0" y="1920240"/>
            <a:ext cx="5394960" cy="1325880"/>
          </a:xfrm>
          <a:prstGeom prst="roundRect">
            <a:avLst/>
          </a:prstGeom>
          <a:solidFill>
            <a:srgbClr val="1F2B40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52160" y="1920240"/>
            <a:ext cx="73152" cy="132588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16752" y="2029968"/>
            <a:ext cx="513892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Валидация и защита ввода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16752" y="2395728"/>
            <a:ext cx="5120640" cy="740664"/>
          </a:xfrm>
          <a:prstGeom prst="rect">
            <a:avLst/>
          </a:prstGeom>
          <a:noFill/>
        </p:spPr>
        <p:txBody>
          <a:bodyPr wrap="square" anchor="t" lIns="18288" rIns="27432" tIns="9144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  <a:defRPr sz="1400" b="0">
                <a:solidFill>
                  <a:srgbClr val="B2B8C4"/>
                </a:solidFill>
              </a:defRPr>
            </a:pPr>
            <a:r>
              <a:t>На клиенте и сервере выполняется проверка данных форм, ограничение типа загружаемых файлов и обработка ошибок через HTTPException.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566160"/>
            <a:ext cx="5029200" cy="1417320"/>
          </a:xfrm>
          <a:prstGeom prst="roundRect">
            <a:avLst/>
          </a:prstGeom>
          <a:solidFill>
            <a:srgbClr val="192335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3566160"/>
            <a:ext cx="73152" cy="14173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675888"/>
            <a:ext cx="477316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Хранение и учетные данные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041648"/>
            <a:ext cx="4754880" cy="832104"/>
          </a:xfrm>
          <a:prstGeom prst="rect">
            <a:avLst/>
          </a:prstGeom>
          <a:noFill/>
        </p:spPr>
        <p:txBody>
          <a:bodyPr wrap="square" anchor="t" lIns="18288" rIns="27432" tIns="9144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  <a:defRPr sz="1400" b="0">
                <a:solidFill>
                  <a:srgbClr val="B2B8C4"/>
                </a:solidFill>
              </a:defRPr>
            </a:pPr>
            <a:r>
              <a:t>Пароли администратора хешируются через bcrypt/passlib, чувствительные параметры вынесены в .env, а БД хранится отдельно от frontend-контейнера.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0" y="3566160"/>
            <a:ext cx="5394960" cy="1417320"/>
          </a:xfrm>
          <a:prstGeom prst="roundRect">
            <a:avLst/>
          </a:prstGeom>
          <a:solidFill>
            <a:srgbClr val="1F2B40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52160" y="3566160"/>
            <a:ext cx="73152" cy="14173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16752" y="3675888"/>
            <a:ext cx="513892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Инфраструктурная устойчивость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16752" y="4041648"/>
            <a:ext cx="5120640" cy="832104"/>
          </a:xfrm>
          <a:prstGeom prst="rect">
            <a:avLst/>
          </a:prstGeom>
          <a:noFill/>
        </p:spPr>
        <p:txBody>
          <a:bodyPr wrap="square" anchor="t" lIns="18288" rIns="27432" tIns="9144" bIns="18288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  <a:defRPr sz="1400" b="0">
                <a:solidFill>
                  <a:srgbClr val="B2B8C4"/>
                </a:solidFill>
              </a:defRPr>
            </a:pPr>
            <a:r>
              <a:t>Docker-изоляция разделяет frontend и backend, каталоги images и restaurant.db вынесены в постоянное хранилище, что упрощает резервное копирование.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2B8C4"/>
                </a:solidFill>
              </a:defRPr>
            </a:pPr>
            <a:r>
              <a:t>Дипломный проект • Ресторан «Гастрономия»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2B8C4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51560" y="6016752"/>
            <a:ext cx="1874519" cy="150876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21240" y="-868680"/>
            <a:ext cx="2240280" cy="1920240"/>
          </a:xfrm>
          <a:prstGeom prst="ellipse">
            <a:avLst/>
          </a:prstGeom>
          <a:solidFill>
            <a:srgbClr val="FF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6016752"/>
            <a:ext cx="2331720" cy="155448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84048"/>
            <a:ext cx="1691640" cy="347472"/>
          </a:xfrm>
          <a:prstGeom prst="round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9FB"/>
                </a:solidFill>
              </a:defRPr>
            </a:pPr>
            <a: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9FB"/>
                </a:solidFill>
              </a:defRPr>
            </a:pPr>
            <a:r>
              <a:t>Экономика проекта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90472"/>
            <a:ext cx="2011680" cy="457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27632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2B8C4"/>
                </a:solidFill>
              </a:defRPr>
            </a:pPr>
            <a:r>
              <a:t>Оценка трудозатрат и ожидаемого эффекта от внедрения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28800"/>
            <a:ext cx="5989320" cy="4206240"/>
          </a:xfrm>
          <a:prstGeom prst="roundRect">
            <a:avLst/>
          </a:prstGeom>
          <a:solidFill>
            <a:srgbClr val="192335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828800"/>
            <a:ext cx="73152" cy="420624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38528"/>
            <a:ext cx="573328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Оценка трудозатрат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377440"/>
            <a:ext cx="5715000" cy="3547872"/>
          </a:xfrm>
          <a:prstGeom prst="rect">
            <a:avLst/>
          </a:prstGeom>
          <a:noFill/>
        </p:spPr>
        <p:txBody>
          <a:bodyPr wrap="square" anchor="t" lIns="18288" rIns="27432" tIns="9144" bIns="18288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B2B8C4"/>
                </a:solidFill>
                <a:latin typeface="Arial"/>
              </a:rPr>
              <a:t>1. Анализ требований и структура — 24 ч × 500 ₽ = 12 000 ₽</a:t>
            </a:r>
            <a:endParaRPr sz="15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B2B8C4"/>
                </a:solidFill>
                <a:latin typeface="Arial"/>
              </a:rPr>
              <a:t>2. Frontend (Vue SPA) — 72 ч × 550 ₽ = 39 600 ₽</a:t>
            </a:r>
            <a:endParaRPr sz="15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B2B8C4"/>
                </a:solidFill>
                <a:latin typeface="Arial"/>
              </a:rPr>
              <a:t>3. Backend и БД — 64 ч × 550 ₽ = 35 200 ₽</a:t>
            </a:r>
            <a:endParaRPr sz="15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B2B8C4"/>
                </a:solidFill>
                <a:latin typeface="Arial"/>
              </a:rPr>
              <a:t>4. Тестирование и исправления — 28 ч × 500 ₽ = 14 000 ₽</a:t>
            </a:r>
            <a:endParaRPr sz="15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B2B8C4"/>
                </a:solidFill>
                <a:latin typeface="Arial"/>
              </a:rPr>
              <a:t>5. Docker, документация и презентация — 24 ч × 500 ₽ = 12 000 ₽</a:t>
            </a:r>
            <a:endParaRPr sz="15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endParaRPr sz="15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500" b="0" i="0">
                <a:solidFill>
                  <a:srgbClr val="B2B8C4"/>
                </a:solidFill>
                <a:latin typeface="Arial"/>
              </a:rPr>
              <a:t>Итого ориентировочная стоимость разработки: 112 800 ₽</a:t>
            </a:r>
            <a:endParaRPr sz="1500" b="0" i="0"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479792" y="1965960"/>
            <a:ext cx="3337560" cy="1078992"/>
          </a:xfrm>
          <a:prstGeom prst="roundRect">
            <a:avLst/>
          </a:prstGeom>
          <a:solidFill>
            <a:srgbClr val="1F2B40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057400"/>
            <a:ext cx="333756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2000" b="1">
                <a:solidFill>
                  <a:srgbClr val="F8F9FB"/>
                </a:solidFill>
              </a:defRPr>
            </a:pPr>
            <a:r>
              <a:t>≈ 113 тыс. 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52944" y="2551176"/>
            <a:ext cx="3191256" cy="4389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B2B8C4"/>
                </a:solidFill>
                <a:latin typeface="Arial"/>
              </a:rPr>
              <a:t>оценка стоимости разработки</a:t>
            </a:r>
            <a:endParaRPr sz="11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479792" y="3364992"/>
            <a:ext cx="3337560" cy="1078992"/>
          </a:xfrm>
          <a:prstGeom prst="roundRect">
            <a:avLst/>
          </a:prstGeom>
          <a:solidFill>
            <a:srgbClr val="1F2B40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79792" y="3456432"/>
            <a:ext cx="333756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800" b="1">
                <a:solidFill>
                  <a:srgbClr val="F8F9FB"/>
                </a:solidFill>
              </a:defRPr>
            </a:pPr>
            <a:r>
              <a:t>≈ 25–35 тыс. ₽/мес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2944" y="3950208"/>
            <a:ext cx="3191256" cy="4389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B2B8C4"/>
                </a:solidFill>
                <a:latin typeface="Arial"/>
              </a:rPr>
              <a:t>потенциальный ежемесячный эффект</a:t>
            </a:r>
            <a:endParaRPr sz="1100" b="0" i="0">
              <a:latin typeface="Arial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479792" y="4764024"/>
            <a:ext cx="3337560" cy="1078992"/>
          </a:xfrm>
          <a:prstGeom prst="roundRect">
            <a:avLst/>
          </a:prstGeom>
          <a:solidFill>
            <a:srgbClr val="1F2B40"/>
          </a:solidFill>
          <a:ln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9792" y="4855464"/>
            <a:ext cx="333756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900" b="1">
                <a:solidFill>
                  <a:srgbClr val="F8F9FB"/>
                </a:solidFill>
              </a:defRPr>
            </a:pPr>
            <a:r>
              <a:t>4–5 месяцев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2944" y="5349240"/>
            <a:ext cx="3191256" cy="4389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 i="0">
                <a:solidFill>
                  <a:srgbClr val="B2B8C4"/>
                </a:solidFill>
                <a:latin typeface="Arial"/>
              </a:rPr>
              <a:t>ориентировочный срок окупаемости</a:t>
            </a:r>
            <a:endParaRPr sz="1100" b="0" i="0"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2B8C4"/>
                </a:solidFill>
              </a:defRPr>
            </a:pPr>
            <a:r>
              <a:t>Дипломный проект • Ресторан «Гастрономия»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2B8C4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51560" y="6016752"/>
            <a:ext cx="1874519" cy="150876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21240" y="-868680"/>
            <a:ext cx="2240280" cy="1920240"/>
          </a:xfrm>
          <a:prstGeom prst="ellipse">
            <a:avLst/>
          </a:prstGeom>
          <a:solidFill>
            <a:srgbClr val="FF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6016752"/>
            <a:ext cx="2331720" cy="155448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384048"/>
            <a:ext cx="1691640" cy="347472"/>
          </a:xfrm>
          <a:prstGeom prst="round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9FB"/>
                </a:solidFill>
              </a:defRPr>
            </a:pPr>
            <a: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9FB"/>
                </a:solidFill>
              </a:defRPr>
            </a:pPr>
            <a:r>
              <a:t>QR-код на программный продукт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490472"/>
            <a:ext cx="2011680" cy="4572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27632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2B8C4"/>
                </a:solidFill>
              </a:defRPr>
            </a:pPr>
            <a:r>
              <a:t>Демо-ссылка для быстрого перехода к развернутому приложению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938528"/>
            <a:ext cx="3566160" cy="3566160"/>
          </a:xfrm>
          <a:prstGeom prst="round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qr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152" y="2240280"/>
            <a:ext cx="2926080" cy="29260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349240" y="1938528"/>
            <a:ext cx="5486400" cy="3822191"/>
          </a:xfrm>
          <a:prstGeom prst="roundRect">
            <a:avLst/>
          </a:prstGeom>
          <a:solidFill>
            <a:srgbClr val="1F2B40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49240" y="1938528"/>
            <a:ext cx="73152" cy="3822191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13832" y="2048256"/>
            <a:ext cx="523036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Демо-стенд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13832" y="2523744"/>
            <a:ext cx="5212080" cy="3127247"/>
          </a:xfrm>
          <a:prstGeom prst="rect">
            <a:avLst/>
          </a:prstGeom>
          <a:noFill/>
        </p:spPr>
        <p:txBody>
          <a:bodyPr wrap="square" anchor="t" lIns="18288" rIns="27432" tIns="9144" bIns="18288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600" b="0" i="0">
                <a:solidFill>
                  <a:srgbClr val="B2B8C4"/>
                </a:solidFill>
                <a:latin typeface="Arial"/>
              </a:rPr>
              <a:t>URL для открытия проекта:</a:t>
            </a:r>
            <a:endParaRPr sz="16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600" b="0" i="0">
                <a:solidFill>
                  <a:srgbClr val="B2B8C4"/>
                </a:solidFill>
                <a:latin typeface="Arial"/>
              </a:rPr>
              <a:t>http://192.168.0.246:3000</a:t>
            </a:r>
            <a:endParaRPr sz="16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endParaRPr sz="16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600" b="0" i="0">
                <a:solidFill>
                  <a:srgbClr val="B2B8C4"/>
                </a:solidFill>
                <a:latin typeface="Arial"/>
              </a:rPr>
              <a:t>Что доступно по ссылке:</a:t>
            </a:r>
            <a:endParaRPr sz="16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600" b="0" i="0">
                <a:solidFill>
                  <a:srgbClr val="B2B8C4"/>
                </a:solidFill>
                <a:latin typeface="Arial"/>
              </a:rPr>
              <a:t>• публичный frontend ресторана</a:t>
            </a:r>
            <a:endParaRPr sz="16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600" b="0" i="0">
                <a:solidFill>
                  <a:srgbClr val="B2B8C4"/>
                </a:solidFill>
                <a:latin typeface="Arial"/>
              </a:rPr>
              <a:t>• проксирование API через nginx</a:t>
            </a:r>
            <a:endParaRPr sz="16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600" b="0" i="0">
                <a:solidFill>
                  <a:srgbClr val="B2B8C4"/>
                </a:solidFill>
                <a:latin typeface="Arial"/>
              </a:rPr>
              <a:t>• backend FastAPI в Docker</a:t>
            </a:r>
            <a:endParaRPr sz="16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endParaRPr sz="16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600" b="0" i="0">
                <a:solidFill>
                  <a:srgbClr val="B2B8C4"/>
                </a:solidFill>
                <a:latin typeface="Arial"/>
              </a:rPr>
              <a:t>Данные для входа в админку:</a:t>
            </a:r>
            <a:endParaRPr sz="1600" b="0" i="0">
              <a:latin typeface="Arial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600" b="0" i="0">
                <a:solidFill>
                  <a:srgbClr val="B2B8C4"/>
                </a:solidFill>
                <a:latin typeface="Arial"/>
              </a:rPr>
              <a:t>admin / admin123</a:t>
            </a:r>
            <a:endParaRPr sz="1600" b="0" i="0">
              <a:latin typeface="Arial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4389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2B8C4"/>
                </a:solidFill>
              </a:defRPr>
            </a:pPr>
            <a:r>
              <a:t>Дипломный проект • Ресторан «Гастрономия»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B2B8C4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51560" y="6016752"/>
            <a:ext cx="1874519" cy="150876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21240" y="-868680"/>
            <a:ext cx="2240280" cy="1920240"/>
          </a:xfrm>
          <a:prstGeom prst="ellipse">
            <a:avLst/>
          </a:prstGeom>
          <a:solidFill>
            <a:srgbClr val="FF3D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15400" y="6016752"/>
            <a:ext cx="2331720" cy="1554480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804672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400" b="1">
                <a:solidFill>
                  <a:srgbClr val="FF7A00"/>
                </a:solidFill>
              </a:defRPr>
            </a:pPr>
            <a:r>
              <a:t>СПАСИБО ЗА ВНИМАНИЕ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691640"/>
            <a:ext cx="804672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3000" b="1">
                <a:solidFill>
                  <a:srgbClr val="F8F9FB"/>
                </a:solidFill>
              </a:defRPr>
            </a:pPr>
            <a:r>
              <a:t>Разработка веб-приложения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3000" b="1">
                <a:solidFill>
                  <a:srgbClr val="F8F9FB"/>
                </a:solidFill>
              </a:defRPr>
            </a:pPr>
            <a:r>
              <a:t>для ресторана «Гастрономия»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26080"/>
            <a:ext cx="77724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0">
                <a:solidFill>
                  <a:srgbClr val="B2B8C4"/>
                </a:solidFill>
              </a:defRPr>
            </a:pPr>
            <a:r>
              <a:t>Проект объединяет клиентский сайт, формы заказа/бронирования, админ-панель и Docker-развертывание.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983480"/>
            <a:ext cx="3246120" cy="987552"/>
          </a:xfrm>
          <a:prstGeom prst="roundRect">
            <a:avLst/>
          </a:prstGeom>
          <a:solidFill>
            <a:srgbClr val="192335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4983480"/>
            <a:ext cx="73152" cy="98755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5093208"/>
            <a:ext cx="299008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Студент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5458968"/>
            <a:ext cx="2971800" cy="402336"/>
          </a:xfrm>
          <a:prstGeom prst="rect">
            <a:avLst/>
          </a:prstGeom>
          <a:noFill/>
        </p:spPr>
        <p:txBody>
          <a:bodyPr wrap="square" anchor="t" lIns="18288" rIns="27432" tIns="9144" bIns="18288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00" b="0" i="0">
                <a:solidFill>
                  <a:srgbClr val="B2B8C4"/>
                </a:solidFill>
                <a:latin typeface="Arial"/>
              </a:rPr>
              <a:t>Давранбеков С.Б.</a:t>
            </a:r>
            <a:endParaRPr sz="1400" b="0" i="0"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160520" y="4983480"/>
            <a:ext cx="3246120" cy="987552"/>
          </a:xfrm>
          <a:prstGeom prst="roundRect">
            <a:avLst/>
          </a:prstGeom>
          <a:solidFill>
            <a:srgbClr val="192335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0520" y="4983480"/>
            <a:ext cx="73152" cy="98755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25112" y="5093208"/>
            <a:ext cx="299008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Проект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5112" y="5458968"/>
            <a:ext cx="2971800" cy="402336"/>
          </a:xfrm>
          <a:prstGeom prst="rect">
            <a:avLst/>
          </a:prstGeom>
          <a:noFill/>
        </p:spPr>
        <p:txBody>
          <a:bodyPr wrap="square" anchor="t" lIns="18288" rIns="27432" tIns="9144" bIns="18288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00" b="0" i="0">
                <a:solidFill>
                  <a:srgbClr val="B2B8C4"/>
                </a:solidFill>
                <a:latin typeface="Arial"/>
              </a:rPr>
              <a:t>Ресторан «Гастрономия»</a:t>
            </a:r>
            <a:endParaRPr sz="1400" b="0" i="0">
              <a:latin typeface="Arial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635240" y="4983480"/>
            <a:ext cx="3429000" cy="987552"/>
          </a:xfrm>
          <a:prstGeom prst="roundRect">
            <a:avLst/>
          </a:prstGeom>
          <a:solidFill>
            <a:srgbClr val="1F2B40"/>
          </a:solidFill>
          <a:ln w="15240">
            <a:solidFill>
              <a:srgbClr val="3E4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35240" y="4983480"/>
            <a:ext cx="73152" cy="987552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99832" y="5093208"/>
            <a:ext cx="3172968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600" b="1">
                <a:solidFill>
                  <a:srgbClr val="F8F9FB"/>
                </a:solidFill>
              </a:defRPr>
            </a:pPr>
            <a:r>
              <a:t>Демо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99832" y="5458968"/>
            <a:ext cx="3154680" cy="402336"/>
          </a:xfrm>
          <a:prstGeom prst="rect">
            <a:avLst/>
          </a:prstGeom>
          <a:noFill/>
        </p:spPr>
        <p:txBody>
          <a:bodyPr wrap="square" anchor="t" lIns="18288" rIns="27432" tIns="9144" bIns="18288">
            <a:no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400" b="0" i="0">
                <a:solidFill>
                  <a:srgbClr val="B2B8C4"/>
                </a:solidFill>
                <a:latin typeface="Arial"/>
              </a:rPr>
              <a:t>http://192.168.0.246:3000</a:t>
            </a:r>
            <a:endParaRPr sz="1400" b="0" i="0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188</Words>
  <Application>Microsoft Office PowerPoint</Application>
  <PresentationFormat>Широкоэкранный</PresentationFormat>
  <Paragraphs>62</Paragraphs>
  <Slides>15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Arial Black</vt:lpstr>
      <vt:lpstr>Arial Nova</vt:lpstr>
      <vt:lpstr>Arial Nova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Токарева Алина</dc:creator>
  <cp:lastModifiedBy>Токарева Алина</cp:lastModifiedBy>
  <cp:revision>36</cp:revision>
  <dcterms:created xsi:type="dcterms:W3CDTF">2025-10-10T09:35:33Z</dcterms:created>
  <dcterms:modified xsi:type="dcterms:W3CDTF">2026-04-09T06:56:09Z</dcterms:modified>
</cp:coreProperties>
</file>